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evaluators, committee members, and faculty guide. Today, I present AgriSmart AI — an intelligent, full-stack crop recommendation system driven by a trained deep neural network in TensorFlow/Keras. This project addresses the core challenge of precision agriculture: empowering agriculturalists to make scientifically grounded planting choices based on verified soil chemistry and micro-climate parameters. Our trained neural network achieves a 97.5% validated accuracy across 22 crop classes, deployed via a high-performance Flask API and an interactive React web dashboard.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establish why precision agriculture is vital. Traditional farming practices often rely on generational intuition or regional monoculture trends. However, crop yield is tightly bounded by Liebig's Law of the Minimum—meaning if even one soil nutrient or environmental factor is inadequate, crop yield plummets. Deep learning excels here because it discovers complex, non-linear feature interactions between soil NPK chemistry and atmospheric temperature, humidity, and rainfall.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articulate the core problems farmers face. First, intuition-based farming leads to planting crops unsuited to the soil chemistry. Second, chemical fertilizer mismanagement causes soil depletion and economic waste. Third, agricultural extension services are slow and often deliver technical numbers without practical crop guidance. AgriSmart AI solves all three by delivering instant, data-driven, probabilistic crop advice directly in the farmer's browser.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objectives are explicit and measurable. We set out to preprocess 2,200 records, train a deep neural network that exceeds 95% accuracy, serialize all artifacts without drift, build a production Flask API with validation, and provide an intuitive React 19 frontend with ranked top-3 recommendations. As we will demonstrate, every objective was successfully accomplished.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provides a clear comparison matrix between conventional crop advisory tools and AgriSmart AI. Traditional tools use rigid decision trees or heuristic lookup tables that fail on non-linear data. AgriSmart AI introduces a 6-layer neural network with 97.5% test accuracy, provides top-3 ranked alternatives, and embeds complete cultivation advisories to assist the farmer in real-world planning.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examine the dataset. We trained on 2,200 verified observation records. Crucially, the dataset is perfectly balanced—100 observations per class across all 22 crop classes, preventing classification bias. The model evaluates exactly 7 continuous agronomic features in strict sequence: Nitrogen, Phosphorus, Potassium, Temperature, Relative Humidity, Soil pH, and Rainfall. These represent the definitive determinants of crop suitability.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outlines our technology stack. We chose a decoupled architecture. On the machine learning side, we use TensorFlow 2.21, Keras, and Scikit-Learn. The backend is built with Python 3.12 and Flask, providing low-latency REST endpoints. The frontend is built with React 19, Vite, and Tailwind CSS, featuring Chart.js for interactive analytics. Everything runs locally without proprietary paid APIs.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high-level 4-tier system architecture diagram. At Tier 1 is the Client Presentation Tier—React 19 running in the user's browser. Tier 2 is the Application Services Tier running on Flask, which enforces boundary validation. Tier 3 is the Machine Learning Inference Tier, where the StandardScaler normalizes inputs into z-scores and the Keras neural network evaluates class probabilities. Finally, Tier 4 represents the persistent artifact storage where model weights and history reside.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illustrates the 5-stage inference workflow. When a user submits data, it is validated, scaled into z-scores via the pre-fitted StandardScaler, propagated through the 6-layer neural network, decoded from integer indices to crop names via LabelEncoder, and presented to the farmer as a ranked top-3 recommendation with actionable advisory.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details our deep neural network topology directly from the trained Keras model artifact. The model is a sequential feedforward network with 6 layers: Dense 64 with ReLU, Dropout 0.2, Dense 32 with ReLU, Dropout 0.2, Dense 16 with ReLU, and a 22-unit Softmax output layer. In total, the model has 3,494 trainable weights and 10,484 total parameters, making it extremely lightweight and capable of sub-10 millisecond inference.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reports our verified evaluation benchmarks from model_metrics.txt. On the hold-out test set of 440 samples, our model achieved 97.50% test accuracy and a test loss of 0.0563. Sixteen out of 22 crops achieved perfect 1.00 precision and recall. Minor overlaps occurred only between Rice and Jute, which share identical heavy monsoon rainfall ranges.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12, we present the functional architecture of the web application. It is divided into four cohesive modules: the Overview landing page, the 7-input Recommendation Dashboard, the Prediction Result Engine, and the Analytics &amp; History Store. Every component is reactive, mobile-responsive, and styled with our cohesive nature-inspired palette.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displays authentic screenshots captured from our running application. On the left is the recommendation form featuring dual slider and numeric controls. On the right is the actual prediction result screen, displaying the recommended crop (Rice at 61.2% confidence), ranked alternatives (Jute at 38.8%), and a complete cultivation advisory.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Academic honesty requires candidly addressing system limitations. Model confidence reflects statistical proximity to training data, not a harvest guarantee. In the future, we plan to interface with IoT field sensors for real-time telemetry, incorporate satellite NDVI imagery, calculate exact fertilizer dosages, and support regional voice queries for rural farmers.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AgriSmart AI successfully demonstrates that deep neural networks can deliver high-accuracy, real-time decision support for precision agriculture. Achieving 97.5% test accuracy across 22 crops, the system transforms complex mathematical inference into an intuitive web tool that helps farmers reduce fertilizer waste, adapt to climate variations, and maximize sustainable crop yields.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respected committee members for your time and attention. I am now open to any questions regarding the deep neural network architecture, data preprocessing pipeline, API integration, or practical agricultural deployment.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F1F"/>
          </a:solidFill>
          <a:ln>
            <a:solidFill>
              <a:srgbClr val="0F2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43D28"/>
          </a:solidFill>
          <a:ln w="25400">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88720" y="1097280"/>
            <a:ext cx="4114800" cy="320040"/>
          </a:xfrm>
          <a:prstGeom prst="roundRect">
            <a:avLst/>
          </a:prstGeom>
          <a:solidFill>
            <a:srgbClr val="2D752D"/>
          </a:solidFill>
          <a:ln>
            <a:solidFill>
              <a:srgbClr val="E6F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rial"/>
              </a:rPr>
              <a:t>ACADEMIC FINAL YEAR PROJECT DEMONSTRATION</a:t>
            </a:r>
          </a:p>
        </p:txBody>
      </p:sp>
      <p:sp>
        <p:nvSpPr>
          <p:cNvPr id="5" name="TextBox 4"/>
          <p:cNvSpPr txBox="1"/>
          <p:nvPr/>
        </p:nvSpPr>
        <p:spPr>
          <a:xfrm>
            <a:off x="1097280" y="1645920"/>
            <a:ext cx="9875520" cy="1645920"/>
          </a:xfrm>
          <a:prstGeom prst="rect">
            <a:avLst/>
          </a:prstGeom>
          <a:noFill/>
        </p:spPr>
        <p:txBody>
          <a:bodyPr wrap="square">
            <a:spAutoFit/>
          </a:bodyPr>
          <a:lstStyle/>
          <a:p>
            <a:r>
              <a:rPr sz="2800" b="1">
                <a:solidFill>
                  <a:srgbClr val="FFFFFF"/>
                </a:solidFill>
                <a:latin typeface="Arial"/>
              </a:rPr>
              <a:t>AgriSmart AI — Intelligent Crop Recommendation System</a:t>
            </a:r>
          </a:p>
          <a:p>
            <a:pPr>
              <a:spcBef>
                <a:spcPts val="800"/>
              </a:spcBef>
            </a:pPr>
            <a:r>
              <a:rPr sz="1300">
                <a:solidFill>
                  <a:srgbClr val="E6F3E6"/>
                </a:solidFill>
                <a:latin typeface="Arial"/>
              </a:rPr>
              <a:t>Deep Neural Network-Driven Precision Agriculture Platform Powered by TensorFlow/Keras, Flask &amp; React</a:t>
            </a:r>
          </a:p>
        </p:txBody>
      </p:sp>
      <p:sp>
        <p:nvSpPr>
          <p:cNvPr id="6" name="Rounded Rectangle 5"/>
          <p:cNvSpPr/>
          <p:nvPr/>
        </p:nvSpPr>
        <p:spPr>
          <a:xfrm>
            <a:off x="1188720" y="3474720"/>
            <a:ext cx="2286000" cy="868680"/>
          </a:xfrm>
          <a:prstGeom prst="roundRect">
            <a:avLst/>
          </a:prstGeom>
          <a:solidFill>
            <a:srgbClr val="0F2F1F"/>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r>
              <a:rPr sz="1200" b="1">
                <a:solidFill>
                  <a:srgbClr val="FFFFFF"/>
                </a:solidFill>
                <a:latin typeface="Arial"/>
              </a:rPr>
              <a:t>97.5% Accuracy</a:t>
            </a:r>
          </a:p>
          <a:p>
            <a:pPr algn="ctr">
              <a:spcBef>
                <a:spcPts val="200"/>
              </a:spcBef>
            </a:pPr>
            <a:r>
              <a:rPr sz="750">
                <a:solidFill>
                  <a:srgbClr val="E6F3E6"/>
                </a:solidFill>
                <a:latin typeface="Arial"/>
              </a:rPr>
              <a:t>Hold-Out Test Set (440 samples)</a:t>
            </a:r>
          </a:p>
        </p:txBody>
      </p:sp>
      <p:sp>
        <p:nvSpPr>
          <p:cNvPr id="7" name="Rounded Rectangle 6"/>
          <p:cNvSpPr/>
          <p:nvPr/>
        </p:nvSpPr>
        <p:spPr>
          <a:xfrm>
            <a:off x="3657600" y="3474720"/>
            <a:ext cx="2286000" cy="868680"/>
          </a:xfrm>
          <a:prstGeom prst="roundRect">
            <a:avLst/>
          </a:prstGeom>
          <a:solidFill>
            <a:srgbClr val="0F2F1F"/>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r>
              <a:rPr sz="1200" b="1">
                <a:solidFill>
                  <a:srgbClr val="FFFFFF"/>
                </a:solidFill>
                <a:latin typeface="Arial"/>
              </a:rPr>
              <a:t>0.0563 Loss</a:t>
            </a:r>
          </a:p>
          <a:p>
            <a:pPr algn="ctr">
              <a:spcBef>
                <a:spcPts val="200"/>
              </a:spcBef>
            </a:pPr>
            <a:r>
              <a:rPr sz="750">
                <a:solidFill>
                  <a:srgbClr val="E6F3E6"/>
                </a:solidFill>
                <a:latin typeface="Arial"/>
              </a:rPr>
              <a:t>Cross-Entropy Optimization</a:t>
            </a:r>
          </a:p>
        </p:txBody>
      </p:sp>
      <p:sp>
        <p:nvSpPr>
          <p:cNvPr id="8" name="Rounded Rectangle 7"/>
          <p:cNvSpPr/>
          <p:nvPr/>
        </p:nvSpPr>
        <p:spPr>
          <a:xfrm>
            <a:off x="6126480" y="3474720"/>
            <a:ext cx="2286000" cy="868680"/>
          </a:xfrm>
          <a:prstGeom prst="roundRect">
            <a:avLst/>
          </a:prstGeom>
          <a:solidFill>
            <a:srgbClr val="0F2F1F"/>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r>
              <a:rPr sz="1200" b="1">
                <a:solidFill>
                  <a:srgbClr val="FFFFFF"/>
                </a:solidFill>
                <a:latin typeface="Arial"/>
              </a:rPr>
              <a:t>22 Crop Classes</a:t>
            </a:r>
          </a:p>
          <a:p>
            <a:pPr algn="ctr">
              <a:spcBef>
                <a:spcPts val="200"/>
              </a:spcBef>
            </a:pPr>
            <a:r>
              <a:rPr sz="750">
                <a:solidFill>
                  <a:srgbClr val="E6F3E6"/>
                </a:solidFill>
                <a:latin typeface="Arial"/>
              </a:rPr>
              <a:t>Balanced Multi-Class Target</a:t>
            </a:r>
          </a:p>
        </p:txBody>
      </p:sp>
      <p:sp>
        <p:nvSpPr>
          <p:cNvPr id="9" name="Rounded Rectangle 8"/>
          <p:cNvSpPr/>
          <p:nvPr/>
        </p:nvSpPr>
        <p:spPr>
          <a:xfrm>
            <a:off x="8595360" y="3474720"/>
            <a:ext cx="2286000" cy="868680"/>
          </a:xfrm>
          <a:prstGeom prst="roundRect">
            <a:avLst/>
          </a:prstGeom>
          <a:solidFill>
            <a:srgbClr val="0F2F1F"/>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r>
              <a:rPr sz="1200" b="1">
                <a:solidFill>
                  <a:srgbClr val="FFFFFF"/>
                </a:solidFill>
                <a:latin typeface="Arial"/>
              </a:rPr>
              <a:t>7 Agronomic Features</a:t>
            </a:r>
          </a:p>
          <a:p>
            <a:pPr algn="ctr">
              <a:spcBef>
                <a:spcPts val="200"/>
              </a:spcBef>
            </a:pPr>
            <a:r>
              <a:rPr sz="750">
                <a:solidFill>
                  <a:srgbClr val="E6F3E6"/>
                </a:solidFill>
                <a:latin typeface="Arial"/>
              </a:rPr>
              <a:t>Soil NPK + Climate Dynamics</a:t>
            </a:r>
          </a:p>
        </p:txBody>
      </p:sp>
      <p:sp>
        <p:nvSpPr>
          <p:cNvPr id="10" name="TextBox 9"/>
          <p:cNvSpPr txBox="1"/>
          <p:nvPr/>
        </p:nvSpPr>
        <p:spPr>
          <a:xfrm>
            <a:off x="1188720" y="4572000"/>
            <a:ext cx="9875520" cy="1280160"/>
          </a:xfrm>
          <a:prstGeom prst="rect">
            <a:avLst/>
          </a:prstGeom>
          <a:noFill/>
        </p:spPr>
        <p:txBody>
          <a:bodyPr wrap="none">
            <a:spAutoFit/>
          </a:bodyPr>
          <a:lstStyle/>
          <a:p>
            <a:r>
              <a:rPr sz="1000" b="1">
                <a:solidFill>
                  <a:srgbClr val="FFFFFF"/>
                </a:solidFill>
                <a:latin typeface="Arial"/>
              </a:rPr>
              <a:t>Candidate Name: [STUDENT NAME]   |   Roll Number: [ROLL NUMBER]   |   Branch: [COURSE AND BRANCH]
Institution: [UNIVERSITY NAME]   |   Session: [SESSION]   |   Supervisor: [FACULTY 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F1F"/>
          </a:solidFill>
          <a:ln>
            <a:solidFill>
              <a:srgbClr val="0F2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87552"/>
            <a:ext cx="12191695" cy="36576"/>
          </a:xfrm>
          <a:prstGeom prst="rect">
            <a:avLst/>
          </a:prstGeom>
          <a:solidFill>
            <a:srgbClr val="2D752D"/>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377440" cy="256032"/>
          </a:xfrm>
          <a:prstGeom prst="roundRect">
            <a:avLst/>
          </a:prstGeom>
          <a:solidFill>
            <a:srgbClr val="143D28"/>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E6F3E6"/>
                </a:solidFill>
                <a:latin typeface="Arial"/>
              </a:rPr>
              <a:t>PROJECT BACKGROUND</a:t>
            </a:r>
          </a:p>
        </p:txBody>
      </p:sp>
      <p:sp>
        <p:nvSpPr>
          <p:cNvPr id="5" name="TextBox 4"/>
          <p:cNvSpPr txBox="1"/>
          <p:nvPr/>
        </p:nvSpPr>
        <p:spPr>
          <a:xfrm>
            <a:off x="685800" y="402336"/>
            <a:ext cx="10515600" cy="548640"/>
          </a:xfrm>
          <a:prstGeom prst="rect">
            <a:avLst/>
          </a:prstGeom>
          <a:noFill/>
        </p:spPr>
        <p:txBody>
          <a:bodyPr wrap="none">
            <a:spAutoFit/>
          </a:bodyPr>
          <a:lstStyle/>
          <a:p>
            <a:r>
              <a:rPr sz="1900" b="1">
                <a:solidFill>
                  <a:srgbClr val="FFFFFF"/>
                </a:solidFill>
                <a:latin typeface="Arial"/>
              </a:rPr>
              <a:t>Introduction &amp; Agricultural Significance</a:t>
            </a:r>
          </a:p>
        </p:txBody>
      </p:sp>
      <p:sp>
        <p:nvSpPr>
          <p:cNvPr id="6" name="Rectangle 5"/>
          <p:cNvSpPr/>
          <p:nvPr/>
        </p:nvSpPr>
        <p:spPr>
          <a:xfrm>
            <a:off x="0" y="6446520"/>
            <a:ext cx="12191695" cy="4114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7315200" cy="320040"/>
          </a:xfrm>
          <a:prstGeom prst="rect">
            <a:avLst/>
          </a:prstGeom>
          <a:noFill/>
        </p:spPr>
        <p:txBody>
          <a:bodyPr wrap="none">
            <a:spAutoFit/>
          </a:bodyPr>
          <a:lstStyle/>
          <a:p>
            <a:r>
              <a:rPr sz="850">
                <a:solidFill>
                  <a:srgbClr val="64748B"/>
                </a:solidFill>
                <a:latin typeface="Arial"/>
              </a:rPr>
              <a:t>AgriSmart AI — Intelligent Crop Recommendation System  |  University Project Demonstration</a:t>
            </a:r>
          </a:p>
        </p:txBody>
      </p:sp>
      <p:sp>
        <p:nvSpPr>
          <p:cNvPr id="8" name="TextBox 7"/>
          <p:cNvSpPr txBox="1"/>
          <p:nvPr/>
        </p:nvSpPr>
        <p:spPr>
          <a:xfrm>
            <a:off x="9601200" y="6473952"/>
            <a:ext cx="1828800" cy="320040"/>
          </a:xfrm>
          <a:prstGeom prst="rect">
            <a:avLst/>
          </a:prstGeom>
          <a:noFill/>
        </p:spPr>
        <p:txBody>
          <a:bodyPr wrap="none">
            <a:spAutoFit/>
          </a:bodyPr>
          <a:lstStyle/>
          <a:p>
            <a:pPr algn="r"/>
            <a:r>
              <a:rPr sz="850" b="1">
                <a:solidFill>
                  <a:srgbClr val="2D752D"/>
                </a:solidFill>
                <a:latin typeface="Arial"/>
              </a:rPr>
              <a:t>Slide 2 of 16</a:t>
            </a:r>
          </a:p>
        </p:txBody>
      </p:sp>
      <p:sp>
        <p:nvSpPr>
          <p:cNvPr id="9" name="Rounded Rectangle 8"/>
          <p:cNvSpPr/>
          <p:nvPr/>
        </p:nvSpPr>
        <p:spPr>
          <a:xfrm>
            <a:off x="731520" y="1280160"/>
            <a:ext cx="5120640"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The Paradigm Shift to Precision Agriculture</a:t>
            </a:r>
          </a:p>
          <a:p>
            <a:pPr algn="l">
              <a:spcAft>
                <a:spcPts val="500"/>
              </a:spcAft>
            </a:pPr>
            <a:r>
              <a:rPr sz="950" b="1">
                <a:solidFill>
                  <a:srgbClr val="1E293B"/>
                </a:solidFill>
                <a:latin typeface="Arial"/>
              </a:rPr>
              <a:t>• Economic Cornerstone:</a:t>
            </a:r>
            <a:r>
              <a:rPr sz="950">
                <a:solidFill>
                  <a:srgbClr val="1E293B"/>
                </a:solidFill>
                <a:latin typeface="Arial"/>
              </a:rPr>
              <a:t> Agriculture employs over 40% of the developing world's workforce and remains vital to global food security.</a:t>
            </a:r>
          </a:p>
          <a:p>
            <a:pPr algn="l">
              <a:spcAft>
                <a:spcPts val="500"/>
              </a:spcAft>
            </a:pPr>
            <a:r>
              <a:rPr sz="950" b="1">
                <a:solidFill>
                  <a:srgbClr val="1E293B"/>
                </a:solidFill>
                <a:latin typeface="Arial"/>
              </a:rPr>
              <a:t>• Soil Chemistry Complexity:</a:t>
            </a:r>
            <a:r>
              <a:rPr sz="950">
                <a:solidFill>
                  <a:srgbClr val="1E293B"/>
                </a:solidFill>
                <a:latin typeface="Arial"/>
              </a:rPr>
              <a:t> Soil fertility is fundamentally dictated by the availability of primary macronutrients (Nitrogen, Phosphorus, Potassium), which govern leaf chlorophyll, root architecture, and cell osmotic resilience.</a:t>
            </a:r>
          </a:p>
          <a:p>
            <a:pPr algn="l">
              <a:spcAft>
                <a:spcPts val="500"/>
              </a:spcAft>
            </a:pPr>
            <a:r>
              <a:rPr sz="950" b="1">
                <a:solidFill>
                  <a:srgbClr val="1E293B"/>
                </a:solidFill>
                <a:latin typeface="Arial"/>
              </a:rPr>
              <a:t>• Climatic Interdependence:</a:t>
            </a:r>
            <a:r>
              <a:rPr sz="950">
                <a:solidFill>
                  <a:srgbClr val="1E293B"/>
                </a:solidFill>
                <a:latin typeface="Arial"/>
              </a:rPr>
              <a:t> Soil nutrients cannot act in isolation; local atmospheric temperatures, humidity levels, and seasonal rainfall strictly dictate vegetative cycle completion.</a:t>
            </a:r>
          </a:p>
          <a:p>
            <a:pPr algn="l">
              <a:spcAft>
                <a:spcPts val="500"/>
              </a:spcAft>
            </a:pPr>
            <a:r>
              <a:rPr sz="950" b="1">
                <a:solidFill>
                  <a:srgbClr val="1E293B"/>
                </a:solidFill>
                <a:latin typeface="Arial"/>
              </a:rPr>
              <a:t>• Decision Gap:</a:t>
            </a:r>
            <a:r>
              <a:rPr sz="950">
                <a:solidFill>
                  <a:srgbClr val="1E293B"/>
                </a:solidFill>
                <a:latin typeface="Arial"/>
              </a:rPr>
              <a:t> While laboratory soil tests are increasingly affordable, farmers lack instant computational tools to interpret laboratory metrics into optimal planting decisions.</a:t>
            </a:r>
          </a:p>
        </p:txBody>
      </p:sp>
      <p:sp>
        <p:nvSpPr>
          <p:cNvPr id="10" name="Rounded Rectangle 9"/>
          <p:cNvSpPr/>
          <p:nvPr/>
        </p:nvSpPr>
        <p:spPr>
          <a:xfrm>
            <a:off x="6217920" y="1280160"/>
            <a:ext cx="5212080"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The Role of Deep Learning in Agri-Tech</a:t>
            </a:r>
          </a:p>
          <a:p>
            <a:pPr algn="l">
              <a:spcAft>
                <a:spcPts val="500"/>
              </a:spcAft>
            </a:pPr>
            <a:r>
              <a:rPr sz="950" b="1">
                <a:solidFill>
                  <a:srgbClr val="1E293B"/>
                </a:solidFill>
                <a:latin typeface="Arial"/>
              </a:rPr>
              <a:t>• High-Dimensional Non-Linearity:</a:t>
            </a:r>
            <a:r>
              <a:rPr sz="950">
                <a:solidFill>
                  <a:srgbClr val="1E293B"/>
                </a:solidFill>
                <a:latin typeface="Arial"/>
              </a:rPr>
              <a:t> The biological relationship between 7 environmental factors and crop yield is highly non-linear, making static threshold heuristics inadequate.</a:t>
            </a:r>
          </a:p>
          <a:p>
            <a:pPr algn="l">
              <a:spcAft>
                <a:spcPts val="500"/>
              </a:spcAft>
            </a:pPr>
            <a:r>
              <a:rPr sz="950" b="1">
                <a:solidFill>
                  <a:srgbClr val="1E293B"/>
                </a:solidFill>
                <a:latin typeface="Arial"/>
              </a:rPr>
              <a:t>• Deep Neural Networks (DNN):</a:t>
            </a:r>
            <a:r>
              <a:rPr sz="950">
                <a:solidFill>
                  <a:srgbClr val="1E293B"/>
                </a:solidFill>
                <a:latin typeface="Arial"/>
              </a:rPr>
              <a:t> Multi-layer perceptrons equipped with ReLU activations and Dropout regularization serve as universal function approximators for multi-class agro-prediction.</a:t>
            </a:r>
          </a:p>
          <a:p>
            <a:pPr algn="l">
              <a:spcAft>
                <a:spcPts val="500"/>
              </a:spcAft>
            </a:pPr>
            <a:r>
              <a:rPr sz="950" b="1">
                <a:solidFill>
                  <a:srgbClr val="1E293B"/>
                </a:solidFill>
                <a:latin typeface="Arial"/>
              </a:rPr>
              <a:t>• Risk Mitigation via Probabilities:</a:t>
            </a:r>
            <a:r>
              <a:rPr sz="950">
                <a:solidFill>
                  <a:srgbClr val="1E293B"/>
                </a:solidFill>
                <a:latin typeface="Arial"/>
              </a:rPr>
              <a:t> Rather than generating rigid binary outcomes, probabilistic outputs enable farmers to evaluate contingency crops and diversify risk.</a:t>
            </a:r>
          </a:p>
          <a:p>
            <a:pPr algn="l">
              <a:spcAft>
                <a:spcPts val="500"/>
              </a:spcAft>
            </a:pPr>
            <a:r>
              <a:rPr sz="950" b="1">
                <a:solidFill>
                  <a:srgbClr val="1E293B"/>
                </a:solidFill>
                <a:latin typeface="Arial"/>
              </a:rPr>
              <a:t>• End-to-End Operationalization:</a:t>
            </a:r>
            <a:r>
              <a:rPr sz="950">
                <a:solidFill>
                  <a:srgbClr val="1E293B"/>
                </a:solidFill>
                <a:latin typeface="Arial"/>
              </a:rPr>
              <a:t> AgriSmart AI transitions machine learning from offline academic research scripts into a production-grade, interactive web decision system.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F1F"/>
          </a:solidFill>
          <a:ln>
            <a:solidFill>
              <a:srgbClr val="0F2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87552"/>
            <a:ext cx="12191695" cy="36576"/>
          </a:xfrm>
          <a:prstGeom prst="rect">
            <a:avLst/>
          </a:prstGeom>
          <a:solidFill>
            <a:srgbClr val="2D752D"/>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377440" cy="256032"/>
          </a:xfrm>
          <a:prstGeom prst="roundRect">
            <a:avLst/>
          </a:prstGeom>
          <a:solidFill>
            <a:srgbClr val="143D28"/>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E6F3E6"/>
                </a:solidFill>
                <a:latin typeface="Arial"/>
              </a:rPr>
              <a:t>OPERATIONAL DILEMMA</a:t>
            </a:r>
          </a:p>
        </p:txBody>
      </p:sp>
      <p:sp>
        <p:nvSpPr>
          <p:cNvPr id="5" name="TextBox 4"/>
          <p:cNvSpPr txBox="1"/>
          <p:nvPr/>
        </p:nvSpPr>
        <p:spPr>
          <a:xfrm>
            <a:off x="685800" y="402336"/>
            <a:ext cx="10515600" cy="548640"/>
          </a:xfrm>
          <a:prstGeom prst="rect">
            <a:avLst/>
          </a:prstGeom>
          <a:noFill/>
        </p:spPr>
        <p:txBody>
          <a:bodyPr wrap="none">
            <a:spAutoFit/>
          </a:bodyPr>
          <a:lstStyle/>
          <a:p>
            <a:r>
              <a:rPr sz="1900" b="1">
                <a:solidFill>
                  <a:srgbClr val="FFFFFF"/>
                </a:solidFill>
                <a:latin typeface="Arial"/>
              </a:rPr>
              <a:t>Problem Statement &amp; Project Motivation</a:t>
            </a:r>
          </a:p>
        </p:txBody>
      </p:sp>
      <p:sp>
        <p:nvSpPr>
          <p:cNvPr id="6" name="Rectangle 5"/>
          <p:cNvSpPr/>
          <p:nvPr/>
        </p:nvSpPr>
        <p:spPr>
          <a:xfrm>
            <a:off x="0" y="6446520"/>
            <a:ext cx="12191695" cy="4114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7315200" cy="320040"/>
          </a:xfrm>
          <a:prstGeom prst="rect">
            <a:avLst/>
          </a:prstGeom>
          <a:noFill/>
        </p:spPr>
        <p:txBody>
          <a:bodyPr wrap="none">
            <a:spAutoFit/>
          </a:bodyPr>
          <a:lstStyle/>
          <a:p>
            <a:r>
              <a:rPr sz="850">
                <a:solidFill>
                  <a:srgbClr val="64748B"/>
                </a:solidFill>
                <a:latin typeface="Arial"/>
              </a:rPr>
              <a:t>AgriSmart AI — Intelligent Crop Recommendation System  |  University Project Demonstration</a:t>
            </a:r>
          </a:p>
        </p:txBody>
      </p:sp>
      <p:sp>
        <p:nvSpPr>
          <p:cNvPr id="8" name="TextBox 7"/>
          <p:cNvSpPr txBox="1"/>
          <p:nvPr/>
        </p:nvSpPr>
        <p:spPr>
          <a:xfrm>
            <a:off x="9601200" y="6473952"/>
            <a:ext cx="1828800" cy="320040"/>
          </a:xfrm>
          <a:prstGeom prst="rect">
            <a:avLst/>
          </a:prstGeom>
          <a:noFill/>
        </p:spPr>
        <p:txBody>
          <a:bodyPr wrap="none">
            <a:spAutoFit/>
          </a:bodyPr>
          <a:lstStyle/>
          <a:p>
            <a:pPr algn="r"/>
            <a:r>
              <a:rPr sz="850" b="1">
                <a:solidFill>
                  <a:srgbClr val="2D752D"/>
                </a:solidFill>
                <a:latin typeface="Arial"/>
              </a:rPr>
              <a:t>Slide 3 of 16</a:t>
            </a:r>
          </a:p>
        </p:txBody>
      </p:sp>
      <p:sp>
        <p:nvSpPr>
          <p:cNvPr id="9" name="Rounded Rectangle 8"/>
          <p:cNvSpPr/>
          <p:nvPr/>
        </p:nvSpPr>
        <p:spPr>
          <a:xfrm>
            <a:off x="731520" y="1280160"/>
            <a:ext cx="3383280" cy="4846320"/>
          </a:xfrm>
          <a:prstGeom prst="roundRect">
            <a:avLst/>
          </a:prstGeom>
          <a:solidFill>
            <a:srgbClr val="FFFFFF"/>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1. Intuition-Based Farming</a:t>
            </a:r>
          </a:p>
          <a:p>
            <a:pPr algn="l">
              <a:spcAft>
                <a:spcPts val="500"/>
              </a:spcAft>
            </a:pPr>
            <a:r>
              <a:rPr sz="950" b="1">
                <a:solidFill>
                  <a:srgbClr val="1E293B"/>
                </a:solidFill>
                <a:latin typeface="Arial"/>
              </a:rPr>
              <a:t>• Reliance on Tradition:</a:t>
            </a:r>
            <a:r>
              <a:rPr sz="950">
                <a:solidFill>
                  <a:srgbClr val="1E293B"/>
                </a:solidFill>
                <a:latin typeface="Arial"/>
              </a:rPr>
              <a:t> Cultivation decisions based on customary habits rather than empirical soil health.</a:t>
            </a:r>
          </a:p>
          <a:p>
            <a:pPr algn="l">
              <a:spcAft>
                <a:spcPts val="500"/>
              </a:spcAft>
            </a:pPr>
            <a:r>
              <a:rPr sz="950" b="1">
                <a:solidFill>
                  <a:srgbClr val="1E293B"/>
                </a:solidFill>
                <a:latin typeface="Arial"/>
              </a:rPr>
              <a:t>• Monoculture Risks:</a:t>
            </a:r>
            <a:r>
              <a:rPr sz="950">
                <a:solidFill>
                  <a:srgbClr val="1E293B"/>
                </a:solidFill>
                <a:latin typeface="Arial"/>
              </a:rPr>
              <a:t> Over-reliance on single crops exacerbates localized soil depletion and pest vulnerability.</a:t>
            </a:r>
          </a:p>
          <a:p>
            <a:pPr algn="l">
              <a:spcAft>
                <a:spcPts val="500"/>
              </a:spcAft>
            </a:pPr>
            <a:r>
              <a:rPr sz="950" b="1">
                <a:solidFill>
                  <a:srgbClr val="1E293B"/>
                </a:solidFill>
                <a:latin typeface="Arial"/>
              </a:rPr>
              <a:t>• Catastrophic Crop Failure:</a:t>
            </a:r>
            <a:r>
              <a:rPr sz="950">
                <a:solidFill>
                  <a:srgbClr val="1E293B"/>
                </a:solidFill>
                <a:latin typeface="Arial"/>
              </a:rPr>
              <a:t> Planting crops unsuited to underlying soil chemistry results in severe economic devastation for farmers.</a:t>
            </a:r>
          </a:p>
        </p:txBody>
      </p:sp>
      <p:sp>
        <p:nvSpPr>
          <p:cNvPr id="10" name="Rounded Rectangle 9"/>
          <p:cNvSpPr/>
          <p:nvPr/>
        </p:nvSpPr>
        <p:spPr>
          <a:xfrm>
            <a:off x="4389120" y="1280160"/>
            <a:ext cx="3383280" cy="484632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2. Soil &amp; Climate Volatility</a:t>
            </a:r>
          </a:p>
          <a:p>
            <a:pPr algn="l">
              <a:spcAft>
                <a:spcPts val="500"/>
              </a:spcAft>
            </a:pPr>
            <a:r>
              <a:rPr sz="950" b="1">
                <a:solidFill>
                  <a:srgbClr val="1E293B"/>
                </a:solidFill>
                <a:latin typeface="Arial"/>
              </a:rPr>
              <a:t>• Fertilizer Mismanagement:</a:t>
            </a:r>
            <a:r>
              <a:rPr sz="950">
                <a:solidFill>
                  <a:srgbClr val="1E293B"/>
                </a:solidFill>
                <a:latin typeface="Arial"/>
              </a:rPr>
              <a:t> Excessive synthetic fertilization causes soil acidification and groundwater contamination.</a:t>
            </a:r>
          </a:p>
          <a:p>
            <a:pPr algn="l">
              <a:spcAft>
                <a:spcPts val="500"/>
              </a:spcAft>
            </a:pPr>
            <a:r>
              <a:rPr sz="950" b="1">
                <a:solidFill>
                  <a:srgbClr val="1E293B"/>
                </a:solidFill>
                <a:latin typeface="Arial"/>
              </a:rPr>
              <a:t>• Monsoon Unpredictability:</a:t>
            </a:r>
            <a:r>
              <a:rPr sz="950">
                <a:solidFill>
                  <a:srgbClr val="1E293B"/>
                </a:solidFill>
                <a:latin typeface="Arial"/>
              </a:rPr>
              <a:t> Changing rainfall patterns render static seasonal crop calendars obsolete.</a:t>
            </a:r>
          </a:p>
          <a:p>
            <a:pPr algn="l">
              <a:spcAft>
                <a:spcPts val="500"/>
              </a:spcAft>
            </a:pPr>
            <a:r>
              <a:rPr sz="950" b="1">
                <a:solidFill>
                  <a:srgbClr val="1E293B"/>
                </a:solidFill>
                <a:latin typeface="Arial"/>
              </a:rPr>
              <a:t>• Microclimate Variations:</a:t>
            </a:r>
            <a:r>
              <a:rPr sz="950">
                <a:solidFill>
                  <a:srgbClr val="1E293B"/>
                </a:solidFill>
                <a:latin typeface="Arial"/>
              </a:rPr>
              <a:t> Temperature and humidity fluctuations drastically alter transpiration and vegetative growth.</a:t>
            </a:r>
          </a:p>
        </p:txBody>
      </p:sp>
      <p:sp>
        <p:nvSpPr>
          <p:cNvPr id="11" name="Rounded Rectangle 10"/>
          <p:cNvSpPr/>
          <p:nvPr/>
        </p:nvSpPr>
        <p:spPr>
          <a:xfrm>
            <a:off x="8046720" y="1280160"/>
            <a:ext cx="3383280" cy="4846320"/>
          </a:xfrm>
          <a:prstGeom prst="roundRect">
            <a:avLst/>
          </a:prstGeom>
          <a:solidFill>
            <a:srgbClr val="FFFF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3. Advisory Deficiencies</a:t>
            </a:r>
          </a:p>
          <a:p>
            <a:pPr algn="l">
              <a:spcAft>
                <a:spcPts val="500"/>
              </a:spcAft>
            </a:pPr>
            <a:r>
              <a:rPr sz="950" b="1">
                <a:solidFill>
                  <a:srgbClr val="1E293B"/>
                </a:solidFill>
                <a:latin typeface="Arial"/>
              </a:rPr>
              <a:t>• Delayed Laboratory Reports:</a:t>
            </a:r>
            <a:r>
              <a:rPr sz="950">
                <a:solidFill>
                  <a:srgbClr val="1E293B"/>
                </a:solidFill>
                <a:latin typeface="Arial"/>
              </a:rPr>
              <a:t> Physical soil testing results take weeks to reach rural agriculturalists.</a:t>
            </a:r>
          </a:p>
          <a:p>
            <a:pPr algn="l">
              <a:spcAft>
                <a:spcPts val="500"/>
              </a:spcAft>
            </a:pPr>
            <a:r>
              <a:rPr sz="950" b="1">
                <a:solidFill>
                  <a:srgbClr val="1E293B"/>
                </a:solidFill>
                <a:latin typeface="Arial"/>
              </a:rPr>
              <a:t>• Lack of Actionable Advice:</a:t>
            </a:r>
            <a:r>
              <a:rPr sz="950">
                <a:solidFill>
                  <a:srgbClr val="1E293B"/>
                </a:solidFill>
                <a:latin typeface="Arial"/>
              </a:rPr>
              <a:t> Laboratory sheets state NPK numbers without clear guidance on what crop to plant.</a:t>
            </a:r>
          </a:p>
          <a:p>
            <a:pPr algn="l">
              <a:spcAft>
                <a:spcPts val="500"/>
              </a:spcAft>
            </a:pPr>
            <a:r>
              <a:rPr sz="950" b="1">
                <a:solidFill>
                  <a:srgbClr val="1E293B"/>
                </a:solidFill>
                <a:latin typeface="Arial"/>
              </a:rPr>
              <a:t>• Inflexible Recommendations:</a:t>
            </a:r>
            <a:r>
              <a:rPr sz="950">
                <a:solidFill>
                  <a:srgbClr val="1E293B"/>
                </a:solidFill>
                <a:latin typeface="Arial"/>
              </a:rPr>
              <a:t> Legacy systems output single crops without probabilistic alternatives for risk mitigation.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F1F"/>
          </a:solidFill>
          <a:ln>
            <a:solidFill>
              <a:srgbClr val="0F2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87552"/>
            <a:ext cx="12191695" cy="36576"/>
          </a:xfrm>
          <a:prstGeom prst="rect">
            <a:avLst/>
          </a:prstGeom>
          <a:solidFill>
            <a:srgbClr val="2D752D"/>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377440" cy="256032"/>
          </a:xfrm>
          <a:prstGeom prst="roundRect">
            <a:avLst/>
          </a:prstGeom>
          <a:solidFill>
            <a:srgbClr val="143D28"/>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E6F3E6"/>
                </a:solidFill>
                <a:latin typeface="Arial"/>
              </a:rPr>
              <a:t>SYSTEM GOALS</a:t>
            </a:r>
          </a:p>
        </p:txBody>
      </p:sp>
      <p:sp>
        <p:nvSpPr>
          <p:cNvPr id="5" name="TextBox 4"/>
          <p:cNvSpPr txBox="1"/>
          <p:nvPr/>
        </p:nvSpPr>
        <p:spPr>
          <a:xfrm>
            <a:off x="685800" y="402336"/>
            <a:ext cx="10515600" cy="548640"/>
          </a:xfrm>
          <a:prstGeom prst="rect">
            <a:avLst/>
          </a:prstGeom>
          <a:noFill/>
        </p:spPr>
        <p:txBody>
          <a:bodyPr wrap="none">
            <a:spAutoFit/>
          </a:bodyPr>
          <a:lstStyle/>
          <a:p>
            <a:r>
              <a:rPr sz="1900" b="1">
                <a:solidFill>
                  <a:srgbClr val="FFFFFF"/>
                </a:solidFill>
                <a:latin typeface="Arial"/>
              </a:rPr>
              <a:t>Project Aim &amp; Specific Technical Objectives</a:t>
            </a:r>
          </a:p>
        </p:txBody>
      </p:sp>
      <p:sp>
        <p:nvSpPr>
          <p:cNvPr id="6" name="Rectangle 5"/>
          <p:cNvSpPr/>
          <p:nvPr/>
        </p:nvSpPr>
        <p:spPr>
          <a:xfrm>
            <a:off x="0" y="6446520"/>
            <a:ext cx="12191695" cy="4114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7315200" cy="320040"/>
          </a:xfrm>
          <a:prstGeom prst="rect">
            <a:avLst/>
          </a:prstGeom>
          <a:noFill/>
        </p:spPr>
        <p:txBody>
          <a:bodyPr wrap="none">
            <a:spAutoFit/>
          </a:bodyPr>
          <a:lstStyle/>
          <a:p>
            <a:r>
              <a:rPr sz="850">
                <a:solidFill>
                  <a:srgbClr val="64748B"/>
                </a:solidFill>
                <a:latin typeface="Arial"/>
              </a:rPr>
              <a:t>AgriSmart AI — Intelligent Crop Recommendation System  |  University Project Demonstration</a:t>
            </a:r>
          </a:p>
        </p:txBody>
      </p:sp>
      <p:sp>
        <p:nvSpPr>
          <p:cNvPr id="8" name="TextBox 7"/>
          <p:cNvSpPr txBox="1"/>
          <p:nvPr/>
        </p:nvSpPr>
        <p:spPr>
          <a:xfrm>
            <a:off x="9601200" y="6473952"/>
            <a:ext cx="1828800" cy="320040"/>
          </a:xfrm>
          <a:prstGeom prst="rect">
            <a:avLst/>
          </a:prstGeom>
          <a:noFill/>
        </p:spPr>
        <p:txBody>
          <a:bodyPr wrap="none">
            <a:spAutoFit/>
          </a:bodyPr>
          <a:lstStyle/>
          <a:p>
            <a:pPr algn="r"/>
            <a:r>
              <a:rPr sz="850" b="1">
                <a:solidFill>
                  <a:srgbClr val="2D752D"/>
                </a:solidFill>
                <a:latin typeface="Arial"/>
              </a:rPr>
              <a:t>Slide 4 of 16</a:t>
            </a:r>
          </a:p>
        </p:txBody>
      </p:sp>
      <p:sp>
        <p:nvSpPr>
          <p:cNvPr id="9" name="Rounded Rectangle 8"/>
          <p:cNvSpPr/>
          <p:nvPr/>
        </p:nvSpPr>
        <p:spPr>
          <a:xfrm>
            <a:off x="731520" y="1280160"/>
            <a:ext cx="10728655"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Key Deliverables &amp; Research Milestones</a:t>
            </a:r>
          </a:p>
          <a:p>
            <a:pPr algn="l">
              <a:spcAft>
                <a:spcPts val="500"/>
              </a:spcAft>
            </a:pPr>
            <a:r>
              <a:rPr sz="950" b="1">
                <a:solidFill>
                  <a:srgbClr val="1E293B"/>
                </a:solidFill>
                <a:latin typeface="Arial"/>
              </a:rPr>
              <a:t>• Standardized Preprocessing Pipeline:</a:t>
            </a:r>
            <a:r>
              <a:rPr sz="950">
                <a:solidFill>
                  <a:srgbClr val="1E293B"/>
                </a:solidFill>
                <a:latin typeface="Arial"/>
              </a:rPr>
              <a:t> Ingest and normalize 2,200 observation records across 7 agricultural features using StandardScaler to ensure zero feature scale bias.</a:t>
            </a:r>
          </a:p>
          <a:p>
            <a:pPr algn="l">
              <a:spcAft>
                <a:spcPts val="500"/>
              </a:spcAft>
            </a:pPr>
            <a:r>
              <a:rPr sz="950" b="1">
                <a:solidFill>
                  <a:srgbClr val="1E293B"/>
                </a:solidFill>
                <a:latin typeface="Arial"/>
              </a:rPr>
              <a:t>• Robust Neural Network Architecture:</a:t>
            </a:r>
            <a:r>
              <a:rPr sz="950">
                <a:solidFill>
                  <a:srgbClr val="1E293B"/>
                </a:solidFill>
                <a:latin typeface="Arial"/>
              </a:rPr>
              <a:t> Construct and train a 6-layer Keras Sequential neural network incorporating Dense layers, ReLU activations, and Dropout regularization for multi-class classification.</a:t>
            </a:r>
          </a:p>
          <a:p>
            <a:pPr algn="l">
              <a:spcAft>
                <a:spcPts val="500"/>
              </a:spcAft>
            </a:pPr>
            <a:r>
              <a:rPr sz="950" b="1">
                <a:solidFill>
                  <a:srgbClr val="1E293B"/>
                </a:solidFill>
                <a:latin typeface="Arial"/>
              </a:rPr>
              <a:t>• High Classification Accuracy (&gt;95%):</a:t>
            </a:r>
            <a:r>
              <a:rPr sz="950">
                <a:solidFill>
                  <a:srgbClr val="1E293B"/>
                </a:solidFill>
                <a:latin typeface="Arial"/>
              </a:rPr>
              <a:t> Achieve empirical classification performance exceeding 95% on hold-out test data (model achieved 97.50% test accuracy with 0.0563 test loss).</a:t>
            </a:r>
          </a:p>
          <a:p>
            <a:pPr algn="l">
              <a:spcAft>
                <a:spcPts val="500"/>
              </a:spcAft>
            </a:pPr>
            <a:r>
              <a:rPr sz="950" b="1">
                <a:solidFill>
                  <a:srgbClr val="1E293B"/>
                </a:solidFill>
                <a:latin typeface="Arial"/>
              </a:rPr>
              <a:t>• Deterministic Production Serialization:</a:t>
            </a:r>
            <a:r>
              <a:rPr sz="950">
                <a:solidFill>
                  <a:srgbClr val="1E293B"/>
                </a:solidFill>
                <a:latin typeface="Arial"/>
              </a:rPr>
              <a:t> Serialize trained weights (.keras), scaler (.pkl), and label encoder (.pkl) for deployment without training-serving skew.</a:t>
            </a:r>
          </a:p>
          <a:p>
            <a:pPr algn="l">
              <a:spcAft>
                <a:spcPts val="500"/>
              </a:spcAft>
            </a:pPr>
            <a:r>
              <a:rPr sz="950" b="1">
                <a:solidFill>
                  <a:srgbClr val="1E293B"/>
                </a:solidFill>
                <a:latin typeface="Arial"/>
              </a:rPr>
              <a:t>• Production Flask REST API:</a:t>
            </a:r>
            <a:r>
              <a:rPr sz="950">
                <a:solidFill>
                  <a:srgbClr val="1E293B"/>
                </a:solidFill>
                <a:latin typeface="Arial"/>
              </a:rPr>
              <a:t> Implement RESTful endpoints (/api/predict, /api/health, /api/analytics, /api/history) with strict input validation across acceptable agronomic ranges.</a:t>
            </a:r>
          </a:p>
          <a:p>
            <a:pPr algn="l">
              <a:spcAft>
                <a:spcPts val="500"/>
              </a:spcAft>
            </a:pPr>
            <a:r>
              <a:rPr sz="950" b="1">
                <a:solidFill>
                  <a:srgbClr val="1E293B"/>
                </a:solidFill>
                <a:latin typeface="Arial"/>
              </a:rPr>
              <a:t>• Responsive Modern Web Interface:</a:t>
            </a:r>
            <a:r>
              <a:rPr sz="950">
                <a:solidFill>
                  <a:srgbClr val="1E293B"/>
                </a:solidFill>
                <a:latin typeface="Arial"/>
              </a:rPr>
              <a:t> Deliver a responsive single-page web dashboard using React 19, Vite, and Tailwind CSS featuring dual-control input sliders and real-time Chart.js visual analytics.</a:t>
            </a:r>
          </a:p>
          <a:p>
            <a:pPr algn="l">
              <a:spcAft>
                <a:spcPts val="500"/>
              </a:spcAft>
            </a:pPr>
            <a:r>
              <a:rPr sz="950" b="1">
                <a:solidFill>
                  <a:srgbClr val="1E293B"/>
                </a:solidFill>
                <a:latin typeface="Arial"/>
              </a:rPr>
              <a:t>• Ranked Top-3 Recommendations:</a:t>
            </a:r>
            <a:r>
              <a:rPr sz="950">
                <a:solidFill>
                  <a:srgbClr val="1E293B"/>
                </a:solidFill>
                <a:latin typeface="Arial"/>
              </a:rPr>
              <a:t> Deliver primary crop suggestions paired with top-3 alternative choices and comprehensive agronomic profiles (season, water, soil, farmer tips).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F1F"/>
          </a:solidFill>
          <a:ln>
            <a:solidFill>
              <a:srgbClr val="0F2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87552"/>
            <a:ext cx="12191695" cy="36576"/>
          </a:xfrm>
          <a:prstGeom prst="rect">
            <a:avLst/>
          </a:prstGeom>
          <a:solidFill>
            <a:srgbClr val="2D752D"/>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377440" cy="256032"/>
          </a:xfrm>
          <a:prstGeom prst="roundRect">
            <a:avLst/>
          </a:prstGeom>
          <a:solidFill>
            <a:srgbClr val="143D28"/>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E6F3E6"/>
                </a:solidFill>
                <a:latin typeface="Arial"/>
              </a:rPr>
              <a:t>ARCHITECTURAL SHIFT</a:t>
            </a:r>
          </a:p>
        </p:txBody>
      </p:sp>
      <p:sp>
        <p:nvSpPr>
          <p:cNvPr id="5" name="TextBox 4"/>
          <p:cNvSpPr txBox="1"/>
          <p:nvPr/>
        </p:nvSpPr>
        <p:spPr>
          <a:xfrm>
            <a:off x="685800" y="402336"/>
            <a:ext cx="10515600" cy="548640"/>
          </a:xfrm>
          <a:prstGeom prst="rect">
            <a:avLst/>
          </a:prstGeom>
          <a:noFill/>
        </p:spPr>
        <p:txBody>
          <a:bodyPr wrap="none">
            <a:spAutoFit/>
          </a:bodyPr>
          <a:lstStyle/>
          <a:p>
            <a:r>
              <a:rPr sz="1900" b="1">
                <a:solidFill>
                  <a:srgbClr val="FFFFFF"/>
                </a:solidFill>
                <a:latin typeface="Arial"/>
              </a:rPr>
              <a:t>Comparative Analysis: Existing vs. Proposed System</a:t>
            </a:r>
          </a:p>
        </p:txBody>
      </p:sp>
      <p:sp>
        <p:nvSpPr>
          <p:cNvPr id="6" name="Rectangle 5"/>
          <p:cNvSpPr/>
          <p:nvPr/>
        </p:nvSpPr>
        <p:spPr>
          <a:xfrm>
            <a:off x="0" y="6446520"/>
            <a:ext cx="12191695" cy="4114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7315200" cy="320040"/>
          </a:xfrm>
          <a:prstGeom prst="rect">
            <a:avLst/>
          </a:prstGeom>
          <a:noFill/>
        </p:spPr>
        <p:txBody>
          <a:bodyPr wrap="none">
            <a:spAutoFit/>
          </a:bodyPr>
          <a:lstStyle/>
          <a:p>
            <a:r>
              <a:rPr sz="850">
                <a:solidFill>
                  <a:srgbClr val="64748B"/>
                </a:solidFill>
                <a:latin typeface="Arial"/>
              </a:rPr>
              <a:t>AgriSmart AI — Intelligent Crop Recommendation System  |  University Project Demonstration</a:t>
            </a:r>
          </a:p>
        </p:txBody>
      </p:sp>
      <p:sp>
        <p:nvSpPr>
          <p:cNvPr id="8" name="TextBox 7"/>
          <p:cNvSpPr txBox="1"/>
          <p:nvPr/>
        </p:nvSpPr>
        <p:spPr>
          <a:xfrm>
            <a:off x="9601200" y="6473952"/>
            <a:ext cx="1828800" cy="320040"/>
          </a:xfrm>
          <a:prstGeom prst="rect">
            <a:avLst/>
          </a:prstGeom>
          <a:noFill/>
        </p:spPr>
        <p:txBody>
          <a:bodyPr wrap="none">
            <a:spAutoFit/>
          </a:bodyPr>
          <a:lstStyle/>
          <a:p>
            <a:pPr algn="r"/>
            <a:r>
              <a:rPr sz="850" b="1">
                <a:solidFill>
                  <a:srgbClr val="2D752D"/>
                </a:solidFill>
                <a:latin typeface="Arial"/>
              </a:rPr>
              <a:t>Slide 5 of 16</a:t>
            </a:r>
          </a:p>
        </p:txBody>
      </p:sp>
      <p:graphicFrame>
        <p:nvGraphicFramePr>
          <p:cNvPr id="9" name="Table 8"/>
          <p:cNvGraphicFramePr>
            <a:graphicFrameLocks noGrp="1"/>
          </p:cNvGraphicFramePr>
          <p:nvPr/>
        </p:nvGraphicFramePr>
        <p:xfrm>
          <a:off x="731520" y="1371600"/>
          <a:ext cx="10728655" cy="4572000"/>
        </p:xfrm>
        <a:graphic>
          <a:graphicData uri="http://schemas.openxmlformats.org/drawingml/2006/table">
            <a:tbl>
              <a:tblPr firstRow="1" bandRow="1">
                <a:tableStyleId>{5C22544A-7EE6-4342-B048-85BDC9FD1C3A}</a:tableStyleId>
              </a:tblPr>
              <a:tblGrid>
                <a:gridCol w="2286000"/>
                <a:gridCol w="4114800"/>
                <a:gridCol w="4327855"/>
              </a:tblGrid>
              <a:tr h="762000">
                <a:tc>
                  <a:txBody>
                    <a:bodyPr/>
                    <a:lstStyle/>
                    <a:p>
                      <a:pPr algn="ctr"/>
                      <a:r>
                        <a:rPr sz="1100" b="1">
                          <a:solidFill>
                            <a:srgbClr val="FFFFFF"/>
                          </a:solidFill>
                          <a:latin typeface="Arial"/>
                        </a:rPr>
                        <a:t>Parameter / Metric</a:t>
                      </a:r>
                    </a:p>
                  </a:txBody>
                  <a:tcPr>
                    <a:solidFill>
                      <a:srgbClr val="0F2F1F"/>
                    </a:solidFill>
                  </a:tcPr>
                </a:tc>
                <a:tc>
                  <a:txBody>
                    <a:bodyPr/>
                    <a:lstStyle/>
                    <a:p>
                      <a:pPr algn="ctr"/>
                      <a:r>
                        <a:rPr sz="1100" b="1">
                          <a:solidFill>
                            <a:srgbClr val="FFFFFF"/>
                          </a:solidFill>
                          <a:latin typeface="Arial"/>
                        </a:rPr>
                        <a:t>Conventional / Existing Approach</a:t>
                      </a:r>
                    </a:p>
                  </a:txBody>
                  <a:tcPr>
                    <a:solidFill>
                      <a:srgbClr val="0F2F1F"/>
                    </a:solidFill>
                  </a:tcPr>
                </a:tc>
                <a:tc>
                  <a:txBody>
                    <a:bodyPr/>
                    <a:lstStyle/>
                    <a:p>
                      <a:pPr algn="ctr"/>
                      <a:r>
                        <a:rPr sz="1100" b="1">
                          <a:solidFill>
                            <a:srgbClr val="FFFFFF"/>
                          </a:solidFill>
                          <a:latin typeface="Arial"/>
                        </a:rPr>
                        <a:t>AgriSmart AI (Proposed Platform)</a:t>
                      </a:r>
                    </a:p>
                  </a:txBody>
                  <a:tcPr>
                    <a:solidFill>
                      <a:srgbClr val="0F2F1F"/>
                    </a:solidFill>
                  </a:tcPr>
                </a:tc>
              </a:tr>
              <a:tr h="762000">
                <a:tc>
                  <a:txBody>
                    <a:bodyPr/>
                    <a:lstStyle/>
                    <a:p>
                      <a:pPr algn="l"/>
                      <a:r>
                        <a:rPr sz="950" b="1">
                          <a:solidFill>
                            <a:srgbClr val="1E293B"/>
                          </a:solidFill>
                          <a:latin typeface="Arial"/>
                        </a:rPr>
                        <a:t>Prediction Model</a:t>
                      </a:r>
                    </a:p>
                  </a:txBody>
                  <a:tcPr>
                    <a:solidFill>
                      <a:srgbClr val="FFFFFF"/>
                    </a:solidFill>
                  </a:tcPr>
                </a:tc>
                <a:tc>
                  <a:txBody>
                    <a:bodyPr/>
                    <a:lstStyle/>
                    <a:p>
                      <a:pPr algn="l"/>
                      <a:r>
                        <a:rPr sz="950" b="0">
                          <a:solidFill>
                            <a:srgbClr val="1E293B"/>
                          </a:solidFill>
                          <a:latin typeface="Arial"/>
                        </a:rPr>
                        <a:t>Basic Decision Trees, Naive Bayes, or manual lookup charts.</a:t>
                      </a:r>
                    </a:p>
                  </a:txBody>
                  <a:tcPr>
                    <a:solidFill>
                      <a:srgbClr val="FFFFFF"/>
                    </a:solidFill>
                  </a:tcPr>
                </a:tc>
                <a:tc>
                  <a:txBody>
                    <a:bodyPr/>
                    <a:lstStyle/>
                    <a:p>
                      <a:pPr algn="l"/>
                      <a:r>
                        <a:rPr sz="950" b="0">
                          <a:solidFill>
                            <a:srgbClr val="1E293B"/>
                          </a:solidFill>
                          <a:latin typeface="Arial"/>
                        </a:rPr>
                        <a:t>6-Layer Deep Neural Network (Keras) with ReLU and Dropout.</a:t>
                      </a:r>
                    </a:p>
                  </a:txBody>
                  <a:tcPr>
                    <a:solidFill>
                      <a:srgbClr val="FFFFFF"/>
                    </a:solidFill>
                  </a:tcPr>
                </a:tc>
              </a:tr>
              <a:tr h="762000">
                <a:tc>
                  <a:txBody>
                    <a:bodyPr/>
                    <a:lstStyle/>
                    <a:p>
                      <a:pPr algn="l"/>
                      <a:r>
                        <a:rPr sz="950" b="1">
                          <a:solidFill>
                            <a:srgbClr val="1E293B"/>
                          </a:solidFill>
                          <a:latin typeface="Arial"/>
                        </a:rPr>
                        <a:t>Accuracy &amp; Generalization</a:t>
                      </a:r>
                    </a:p>
                  </a:txBody>
                  <a:tcPr>
                    <a:solidFill>
                      <a:srgbClr val="F7F9F6"/>
                    </a:solidFill>
                  </a:tcPr>
                </a:tc>
                <a:tc>
                  <a:txBody>
                    <a:bodyPr/>
                    <a:lstStyle/>
                    <a:p>
                      <a:pPr algn="l"/>
                      <a:r>
                        <a:rPr sz="950" b="0">
                          <a:solidFill>
                            <a:srgbClr val="1E293B"/>
                          </a:solidFill>
                          <a:latin typeface="Arial"/>
                        </a:rPr>
                        <a:t>Typically 75% - 85%; prone to underfitting on edge conditions.</a:t>
                      </a:r>
                    </a:p>
                  </a:txBody>
                  <a:tcPr>
                    <a:solidFill>
                      <a:srgbClr val="F7F9F6"/>
                    </a:solidFill>
                  </a:tcPr>
                </a:tc>
                <a:tc>
                  <a:txBody>
                    <a:bodyPr/>
                    <a:lstStyle/>
                    <a:p>
                      <a:pPr algn="l"/>
                      <a:r>
                        <a:rPr sz="950" b="0">
                          <a:solidFill>
                            <a:srgbClr val="1E293B"/>
                          </a:solidFill>
                          <a:latin typeface="Arial"/>
                        </a:rPr>
                        <a:t>97.50% Test Accuracy | 0.0563 Test Loss on 440 unseen test cases.</a:t>
                      </a:r>
                    </a:p>
                  </a:txBody>
                  <a:tcPr>
                    <a:solidFill>
                      <a:srgbClr val="F7F9F6"/>
                    </a:solidFill>
                  </a:tcPr>
                </a:tc>
              </a:tr>
              <a:tr h="762000">
                <a:tc>
                  <a:txBody>
                    <a:bodyPr/>
                    <a:lstStyle/>
                    <a:p>
                      <a:pPr algn="l"/>
                      <a:r>
                        <a:rPr sz="950" b="1">
                          <a:solidFill>
                            <a:srgbClr val="1E293B"/>
                          </a:solidFill>
                          <a:latin typeface="Arial"/>
                        </a:rPr>
                        <a:t>Recommendation Output</a:t>
                      </a:r>
                    </a:p>
                  </a:txBody>
                  <a:tcPr>
                    <a:solidFill>
                      <a:srgbClr val="FFFFFF"/>
                    </a:solidFill>
                  </a:tcPr>
                </a:tc>
                <a:tc>
                  <a:txBody>
                    <a:bodyPr/>
                    <a:lstStyle/>
                    <a:p>
                      <a:pPr algn="l"/>
                      <a:r>
                        <a:rPr sz="950" b="0">
                          <a:solidFill>
                            <a:srgbClr val="1E293B"/>
                          </a:solidFill>
                          <a:latin typeface="Arial"/>
                        </a:rPr>
                        <a:t>Single deterministic output with no indication of certainty.</a:t>
                      </a:r>
                    </a:p>
                  </a:txBody>
                  <a:tcPr>
                    <a:solidFill>
                      <a:srgbClr val="FFFFFF"/>
                    </a:solidFill>
                  </a:tcPr>
                </a:tc>
                <a:tc>
                  <a:txBody>
                    <a:bodyPr/>
                    <a:lstStyle/>
                    <a:p>
                      <a:pPr algn="l"/>
                      <a:r>
                        <a:rPr sz="950" b="0">
                          <a:solidFill>
                            <a:srgbClr val="1E293B"/>
                          </a:solidFill>
                          <a:latin typeface="Arial"/>
                        </a:rPr>
                        <a:t>Ranked Top-3 Probabilistic Recommendations with Softmax confidence %.</a:t>
                      </a:r>
                    </a:p>
                  </a:txBody>
                  <a:tcPr>
                    <a:solidFill>
                      <a:srgbClr val="FFFFFF"/>
                    </a:solidFill>
                  </a:tcPr>
                </a:tc>
              </a:tr>
              <a:tr h="762000">
                <a:tc>
                  <a:txBody>
                    <a:bodyPr/>
                    <a:lstStyle/>
                    <a:p>
                      <a:pPr algn="l"/>
                      <a:r>
                        <a:rPr sz="950" b="1">
                          <a:solidFill>
                            <a:srgbClr val="1E293B"/>
                          </a:solidFill>
                          <a:latin typeface="Arial"/>
                        </a:rPr>
                        <a:t>User Experience</a:t>
                      </a:r>
                    </a:p>
                  </a:txBody>
                  <a:tcPr>
                    <a:solidFill>
                      <a:srgbClr val="F7F9F6"/>
                    </a:solidFill>
                  </a:tcPr>
                </a:tc>
                <a:tc>
                  <a:txBody>
                    <a:bodyPr/>
                    <a:lstStyle/>
                    <a:p>
                      <a:pPr algn="l"/>
                      <a:r>
                        <a:rPr sz="950" b="0">
                          <a:solidFill>
                            <a:srgbClr val="1E293B"/>
                          </a:solidFill>
                          <a:latin typeface="Arial"/>
                        </a:rPr>
                        <a:t>Command-line scripts, manual worksheets, or outdated web forms.</a:t>
                      </a:r>
                    </a:p>
                  </a:txBody>
                  <a:tcPr>
                    <a:solidFill>
                      <a:srgbClr val="F7F9F6"/>
                    </a:solidFill>
                  </a:tcPr>
                </a:tc>
                <a:tc>
                  <a:txBody>
                    <a:bodyPr/>
                    <a:lstStyle/>
                    <a:p>
                      <a:pPr algn="l"/>
                      <a:r>
                        <a:rPr sz="950" b="0">
                          <a:solidFill>
                            <a:srgbClr val="1E293B"/>
                          </a:solidFill>
                          <a:latin typeface="Arial"/>
                        </a:rPr>
                        <a:t>React 19 + Tailwind CSS dashboard with dual synchronized sliders &amp; numbers.</a:t>
                      </a:r>
                    </a:p>
                  </a:txBody>
                  <a:tcPr>
                    <a:solidFill>
                      <a:srgbClr val="F7F9F6"/>
                    </a:solidFill>
                  </a:tcPr>
                </a:tc>
              </a:tr>
              <a:tr h="762000">
                <a:tc>
                  <a:txBody>
                    <a:bodyPr/>
                    <a:lstStyle/>
                    <a:p>
                      <a:pPr algn="l"/>
                      <a:r>
                        <a:rPr sz="950" b="1">
                          <a:solidFill>
                            <a:srgbClr val="1E293B"/>
                          </a:solidFill>
                          <a:latin typeface="Arial"/>
                        </a:rPr>
                        <a:t>Agronomic Context</a:t>
                      </a:r>
                    </a:p>
                  </a:txBody>
                  <a:tcPr>
                    <a:solidFill>
                      <a:srgbClr val="FFFFFF"/>
                    </a:solidFill>
                  </a:tcPr>
                </a:tc>
                <a:tc>
                  <a:txBody>
                    <a:bodyPr/>
                    <a:lstStyle/>
                    <a:p>
                      <a:pPr algn="l"/>
                      <a:r>
                        <a:rPr sz="950" b="0">
                          <a:solidFill>
                            <a:srgbClr val="1E293B"/>
                          </a:solidFill>
                          <a:latin typeface="Arial"/>
                        </a:rPr>
                        <a:t>Displays only the crop name without guidance.</a:t>
                      </a:r>
                    </a:p>
                  </a:txBody>
                  <a:tcPr>
                    <a:solidFill>
                      <a:srgbClr val="FFFFFF"/>
                    </a:solidFill>
                  </a:tcPr>
                </a:tc>
                <a:tc>
                  <a:txBody>
                    <a:bodyPr/>
                    <a:lstStyle/>
                    <a:p>
                      <a:pPr algn="l"/>
                      <a:r>
                        <a:rPr sz="950" b="0">
                          <a:solidFill>
                            <a:srgbClr val="1E293B"/>
                          </a:solidFill>
                          <a:latin typeface="Arial"/>
                        </a:rPr>
                        <a:t>Detailed agronomic advisory: season, harvest days, soil needs, and farmer tips.</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F1F"/>
          </a:solidFill>
          <a:ln>
            <a:solidFill>
              <a:srgbClr val="0F2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87552"/>
            <a:ext cx="12191695" cy="36576"/>
          </a:xfrm>
          <a:prstGeom prst="rect">
            <a:avLst/>
          </a:prstGeom>
          <a:solidFill>
            <a:srgbClr val="2D752D"/>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377440" cy="256032"/>
          </a:xfrm>
          <a:prstGeom prst="roundRect">
            <a:avLst/>
          </a:prstGeom>
          <a:solidFill>
            <a:srgbClr val="143D28"/>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E6F3E6"/>
                </a:solidFill>
                <a:latin typeface="Arial"/>
              </a:rPr>
              <a:t>DATA ENGINEERING</a:t>
            </a:r>
          </a:p>
        </p:txBody>
      </p:sp>
      <p:sp>
        <p:nvSpPr>
          <p:cNvPr id="5" name="TextBox 4"/>
          <p:cNvSpPr txBox="1"/>
          <p:nvPr/>
        </p:nvSpPr>
        <p:spPr>
          <a:xfrm>
            <a:off x="685800" y="402336"/>
            <a:ext cx="10515600" cy="548640"/>
          </a:xfrm>
          <a:prstGeom prst="rect">
            <a:avLst/>
          </a:prstGeom>
          <a:noFill/>
        </p:spPr>
        <p:txBody>
          <a:bodyPr wrap="none">
            <a:spAutoFit/>
          </a:bodyPr>
          <a:lstStyle/>
          <a:p>
            <a:r>
              <a:rPr sz="1900" b="1">
                <a:solidFill>
                  <a:srgbClr val="FFFFFF"/>
                </a:solidFill>
                <a:latin typeface="Arial"/>
              </a:rPr>
              <a:t>Dataset Architecture &amp; Seven Input Parameters</a:t>
            </a:r>
          </a:p>
        </p:txBody>
      </p:sp>
      <p:sp>
        <p:nvSpPr>
          <p:cNvPr id="6" name="Rectangle 5"/>
          <p:cNvSpPr/>
          <p:nvPr/>
        </p:nvSpPr>
        <p:spPr>
          <a:xfrm>
            <a:off x="0" y="6446520"/>
            <a:ext cx="12191695" cy="4114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7315200" cy="320040"/>
          </a:xfrm>
          <a:prstGeom prst="rect">
            <a:avLst/>
          </a:prstGeom>
          <a:noFill/>
        </p:spPr>
        <p:txBody>
          <a:bodyPr wrap="none">
            <a:spAutoFit/>
          </a:bodyPr>
          <a:lstStyle/>
          <a:p>
            <a:r>
              <a:rPr sz="850">
                <a:solidFill>
                  <a:srgbClr val="64748B"/>
                </a:solidFill>
                <a:latin typeface="Arial"/>
              </a:rPr>
              <a:t>AgriSmart AI — Intelligent Crop Recommendation System  |  University Project Demonstration</a:t>
            </a:r>
          </a:p>
        </p:txBody>
      </p:sp>
      <p:sp>
        <p:nvSpPr>
          <p:cNvPr id="8" name="TextBox 7"/>
          <p:cNvSpPr txBox="1"/>
          <p:nvPr/>
        </p:nvSpPr>
        <p:spPr>
          <a:xfrm>
            <a:off x="9601200" y="6473952"/>
            <a:ext cx="1828800" cy="320040"/>
          </a:xfrm>
          <a:prstGeom prst="rect">
            <a:avLst/>
          </a:prstGeom>
          <a:noFill/>
        </p:spPr>
        <p:txBody>
          <a:bodyPr wrap="none">
            <a:spAutoFit/>
          </a:bodyPr>
          <a:lstStyle/>
          <a:p>
            <a:pPr algn="r"/>
            <a:r>
              <a:rPr sz="850" b="1">
                <a:solidFill>
                  <a:srgbClr val="2D752D"/>
                </a:solidFill>
                <a:latin typeface="Arial"/>
              </a:rPr>
              <a:t>Slide 6 of 16</a:t>
            </a:r>
          </a:p>
        </p:txBody>
      </p:sp>
      <p:sp>
        <p:nvSpPr>
          <p:cNvPr id="9" name="Rounded Rectangle 8"/>
          <p:cNvSpPr/>
          <p:nvPr/>
        </p:nvSpPr>
        <p:spPr>
          <a:xfrm>
            <a:off x="731520" y="1280160"/>
            <a:ext cx="5120640"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Dataset Structure &amp; Properties</a:t>
            </a:r>
          </a:p>
          <a:p>
            <a:pPr algn="l">
              <a:spcAft>
                <a:spcPts val="500"/>
              </a:spcAft>
            </a:pPr>
            <a:r>
              <a:rPr sz="950" b="1">
                <a:solidFill>
                  <a:srgbClr val="1E293B"/>
                </a:solidFill>
                <a:latin typeface="Arial"/>
              </a:rPr>
              <a:t>• Total Observations:</a:t>
            </a:r>
            <a:r>
              <a:rPr sz="950">
                <a:solidFill>
                  <a:srgbClr val="1E293B"/>
                </a:solidFill>
                <a:latin typeface="Arial"/>
              </a:rPr>
              <a:t> 2,200 verified agricultural field records.</a:t>
            </a:r>
          </a:p>
          <a:p>
            <a:pPr algn="l">
              <a:spcAft>
                <a:spcPts val="500"/>
              </a:spcAft>
            </a:pPr>
            <a:r>
              <a:rPr sz="950" b="1">
                <a:solidFill>
                  <a:srgbClr val="1E293B"/>
                </a:solidFill>
                <a:latin typeface="Arial"/>
              </a:rPr>
              <a:t>• Class Distribution:</a:t>
            </a:r>
            <a:r>
              <a:rPr sz="950">
                <a:solidFill>
                  <a:srgbClr val="1E293B"/>
                </a:solidFill>
                <a:latin typeface="Arial"/>
              </a:rPr>
              <a:t> Perfectly balanced across 22 crop categories (100 observations per class).</a:t>
            </a:r>
          </a:p>
          <a:p>
            <a:pPr algn="l">
              <a:spcAft>
                <a:spcPts val="500"/>
              </a:spcAft>
            </a:pPr>
            <a:r>
              <a:rPr sz="950" b="1">
                <a:solidFill>
                  <a:srgbClr val="1E293B"/>
                </a:solidFill>
                <a:latin typeface="Arial"/>
              </a:rPr>
              <a:t>• Zero Missing Values:</a:t>
            </a:r>
            <a:r>
              <a:rPr sz="950">
                <a:solidFill>
                  <a:srgbClr val="1E293B"/>
                </a:solidFill>
                <a:latin typeface="Arial"/>
              </a:rPr>
              <a:t> Complete data integrity with zero null, NaN, or corrupted values.</a:t>
            </a:r>
          </a:p>
          <a:p>
            <a:pPr algn="l">
              <a:spcAft>
                <a:spcPts val="500"/>
              </a:spcAft>
            </a:pPr>
            <a:r>
              <a:rPr sz="950" b="1">
                <a:solidFill>
                  <a:srgbClr val="1E293B"/>
                </a:solidFill>
                <a:latin typeface="Arial"/>
              </a:rPr>
              <a:t>• Partitioning:</a:t>
            </a:r>
            <a:r>
              <a:rPr sz="950">
                <a:solidFill>
                  <a:srgbClr val="1E293B"/>
                </a:solidFill>
                <a:latin typeface="Arial"/>
              </a:rPr>
              <a:t> 80% Training Set (1,760 samples) and 20% Stratified Hold-Out Test Set (440 samples).</a:t>
            </a:r>
          </a:p>
          <a:p>
            <a:pPr algn="l">
              <a:spcAft>
                <a:spcPts val="500"/>
              </a:spcAft>
            </a:pPr>
            <a:r>
              <a:rPr sz="950" b="1">
                <a:solidFill>
                  <a:srgbClr val="1E293B"/>
                </a:solidFill>
                <a:latin typeface="Arial"/>
              </a:rPr>
              <a:t>• Supported Crops (22):</a:t>
            </a:r>
            <a:r>
              <a:rPr sz="950">
                <a:solidFill>
                  <a:srgbClr val="1E293B"/>
                </a:solidFill>
                <a:latin typeface="Arial"/>
              </a:rPr>
              <a:t> Apple, Banana, Blackgram, Chickpea, Coconut, Coffee, Cotton, Grapes, Jute, Kidney Beans, Lentil, Maize, Mango, Moth Beans, Mung Bean, Muskmelon, Orange, Papaya, Pigeon Peas, Pomegranate, Rice, Watermelon.</a:t>
            </a:r>
          </a:p>
        </p:txBody>
      </p:sp>
      <p:sp>
        <p:nvSpPr>
          <p:cNvPr id="10" name="Rounded Rectangle 9"/>
          <p:cNvSpPr/>
          <p:nvPr/>
        </p:nvSpPr>
        <p:spPr>
          <a:xfrm>
            <a:off x="6217920" y="1280160"/>
            <a:ext cx="5212080"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The Seven Continuous Input Parameters</a:t>
            </a:r>
          </a:p>
          <a:p>
            <a:pPr algn="l">
              <a:spcAft>
                <a:spcPts val="500"/>
              </a:spcAft>
            </a:pPr>
            <a:r>
              <a:rPr sz="950" b="1">
                <a:solidFill>
                  <a:srgbClr val="1E293B"/>
                </a:solidFill>
                <a:latin typeface="Arial"/>
              </a:rPr>
              <a:t>• Nitrogen (N) [0 - 140 kg/ha]:</a:t>
            </a:r>
            <a:r>
              <a:rPr sz="950">
                <a:solidFill>
                  <a:srgbClr val="1E293B"/>
                </a:solidFill>
                <a:latin typeface="Arial"/>
              </a:rPr>
              <a:t> Primary driver of leaf growth and chlorophyll synthesis.</a:t>
            </a:r>
          </a:p>
          <a:p>
            <a:pPr algn="l">
              <a:spcAft>
                <a:spcPts val="500"/>
              </a:spcAft>
            </a:pPr>
            <a:r>
              <a:rPr sz="950" b="1">
                <a:solidFill>
                  <a:srgbClr val="1E293B"/>
                </a:solidFill>
                <a:latin typeface="Arial"/>
              </a:rPr>
              <a:t>• Phosphorus (P) [5 - 145 kg/ha]:</a:t>
            </a:r>
            <a:r>
              <a:rPr sz="950">
                <a:solidFill>
                  <a:srgbClr val="1E293B"/>
                </a:solidFill>
                <a:latin typeface="Arial"/>
              </a:rPr>
              <a:t> Essential for root establishment and energy transfer (ATP).</a:t>
            </a:r>
          </a:p>
          <a:p>
            <a:pPr algn="l">
              <a:spcAft>
                <a:spcPts val="500"/>
              </a:spcAft>
            </a:pPr>
            <a:r>
              <a:rPr sz="950" b="1">
                <a:solidFill>
                  <a:srgbClr val="1E293B"/>
                </a:solidFill>
                <a:latin typeface="Arial"/>
              </a:rPr>
              <a:t>• Potassium (K) [5 - 205 kg/ha]:</a:t>
            </a:r>
            <a:r>
              <a:rPr sz="950">
                <a:solidFill>
                  <a:srgbClr val="1E293B"/>
                </a:solidFill>
                <a:latin typeface="Arial"/>
              </a:rPr>
              <a:t> Regulates stomatal water balance, disease resistance, and fruit weight.</a:t>
            </a:r>
          </a:p>
          <a:p>
            <a:pPr algn="l">
              <a:spcAft>
                <a:spcPts val="500"/>
              </a:spcAft>
            </a:pPr>
            <a:r>
              <a:rPr sz="950" b="1">
                <a:solidFill>
                  <a:srgbClr val="1E293B"/>
                </a:solidFill>
                <a:latin typeface="Arial"/>
              </a:rPr>
              <a:t>• Temperature [8.8 - 43.7 °C]:</a:t>
            </a:r>
            <a:r>
              <a:rPr sz="950">
                <a:solidFill>
                  <a:srgbClr val="1E293B"/>
                </a:solidFill>
                <a:latin typeface="Arial"/>
              </a:rPr>
              <a:t> Dictates enzyme kinetics and physiological growth velocity.</a:t>
            </a:r>
          </a:p>
          <a:p>
            <a:pPr algn="l">
              <a:spcAft>
                <a:spcPts val="500"/>
              </a:spcAft>
            </a:pPr>
            <a:r>
              <a:rPr sz="950" b="1">
                <a:solidFill>
                  <a:srgbClr val="1E293B"/>
                </a:solidFill>
                <a:latin typeface="Arial"/>
              </a:rPr>
              <a:t>• Relative Humidity [14.3 - 99.9 %]:</a:t>
            </a:r>
            <a:r>
              <a:rPr sz="950">
                <a:solidFill>
                  <a:srgbClr val="1E293B"/>
                </a:solidFill>
                <a:latin typeface="Arial"/>
              </a:rPr>
              <a:t> Governs transpiration rates and moisture preservation.</a:t>
            </a:r>
          </a:p>
          <a:p>
            <a:pPr algn="l">
              <a:spcAft>
                <a:spcPts val="500"/>
              </a:spcAft>
            </a:pPr>
            <a:r>
              <a:rPr sz="950" b="1">
                <a:solidFill>
                  <a:srgbClr val="1E293B"/>
                </a:solidFill>
                <a:latin typeface="Arial"/>
              </a:rPr>
              <a:t>• Soil pH [3.5 - 9.9]:</a:t>
            </a:r>
            <a:r>
              <a:rPr sz="950">
                <a:solidFill>
                  <a:srgbClr val="1E293B"/>
                </a:solidFill>
                <a:latin typeface="Arial"/>
              </a:rPr>
              <a:t> Controls chemical bioavailability of essential soil micronutrients.</a:t>
            </a:r>
          </a:p>
          <a:p>
            <a:pPr algn="l">
              <a:spcAft>
                <a:spcPts val="500"/>
              </a:spcAft>
            </a:pPr>
            <a:r>
              <a:rPr sz="950" b="1">
                <a:solidFill>
                  <a:srgbClr val="1E293B"/>
                </a:solidFill>
                <a:latin typeface="Arial"/>
              </a:rPr>
              <a:t>• Rainfall [20.2 - 298.6 mm]:</a:t>
            </a:r>
            <a:r>
              <a:rPr sz="950">
                <a:solidFill>
                  <a:srgbClr val="1E293B"/>
                </a:solidFill>
                <a:latin typeface="Arial"/>
              </a:rPr>
              <a:t> Natural water volume; establishes irrigation requirements.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F1F"/>
          </a:solidFill>
          <a:ln>
            <a:solidFill>
              <a:srgbClr val="0F2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87552"/>
            <a:ext cx="12191695" cy="36576"/>
          </a:xfrm>
          <a:prstGeom prst="rect">
            <a:avLst/>
          </a:prstGeom>
          <a:solidFill>
            <a:srgbClr val="2D752D"/>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377440" cy="256032"/>
          </a:xfrm>
          <a:prstGeom prst="roundRect">
            <a:avLst/>
          </a:prstGeom>
          <a:solidFill>
            <a:srgbClr val="143D28"/>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E6F3E6"/>
                </a:solidFill>
                <a:latin typeface="Arial"/>
              </a:rPr>
              <a:t>SYSTEM IMPLEMENTATION</a:t>
            </a:r>
          </a:p>
        </p:txBody>
      </p:sp>
      <p:sp>
        <p:nvSpPr>
          <p:cNvPr id="5" name="TextBox 4"/>
          <p:cNvSpPr txBox="1"/>
          <p:nvPr/>
        </p:nvSpPr>
        <p:spPr>
          <a:xfrm>
            <a:off x="685800" y="402336"/>
            <a:ext cx="10515600" cy="548640"/>
          </a:xfrm>
          <a:prstGeom prst="rect">
            <a:avLst/>
          </a:prstGeom>
          <a:noFill/>
        </p:spPr>
        <p:txBody>
          <a:bodyPr wrap="none">
            <a:spAutoFit/>
          </a:bodyPr>
          <a:lstStyle/>
          <a:p>
            <a:r>
              <a:rPr sz="1900" b="1">
                <a:solidFill>
                  <a:srgbClr val="FFFFFF"/>
                </a:solidFill>
                <a:latin typeface="Arial"/>
              </a:rPr>
              <a:t>Comprehensive Technology Stack</a:t>
            </a:r>
          </a:p>
        </p:txBody>
      </p:sp>
      <p:sp>
        <p:nvSpPr>
          <p:cNvPr id="6" name="Rectangle 5"/>
          <p:cNvSpPr/>
          <p:nvPr/>
        </p:nvSpPr>
        <p:spPr>
          <a:xfrm>
            <a:off x="0" y="6446520"/>
            <a:ext cx="12191695" cy="4114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7315200" cy="320040"/>
          </a:xfrm>
          <a:prstGeom prst="rect">
            <a:avLst/>
          </a:prstGeom>
          <a:noFill/>
        </p:spPr>
        <p:txBody>
          <a:bodyPr wrap="none">
            <a:spAutoFit/>
          </a:bodyPr>
          <a:lstStyle/>
          <a:p>
            <a:r>
              <a:rPr sz="850">
                <a:solidFill>
                  <a:srgbClr val="64748B"/>
                </a:solidFill>
                <a:latin typeface="Arial"/>
              </a:rPr>
              <a:t>AgriSmart AI — Intelligent Crop Recommendation System  |  University Project Demonstration</a:t>
            </a:r>
          </a:p>
        </p:txBody>
      </p:sp>
      <p:sp>
        <p:nvSpPr>
          <p:cNvPr id="8" name="TextBox 7"/>
          <p:cNvSpPr txBox="1"/>
          <p:nvPr/>
        </p:nvSpPr>
        <p:spPr>
          <a:xfrm>
            <a:off x="9601200" y="6473952"/>
            <a:ext cx="1828800" cy="320040"/>
          </a:xfrm>
          <a:prstGeom prst="rect">
            <a:avLst/>
          </a:prstGeom>
          <a:noFill/>
        </p:spPr>
        <p:txBody>
          <a:bodyPr wrap="none">
            <a:spAutoFit/>
          </a:bodyPr>
          <a:lstStyle/>
          <a:p>
            <a:pPr algn="r"/>
            <a:r>
              <a:rPr sz="850" b="1">
                <a:solidFill>
                  <a:srgbClr val="2D752D"/>
                </a:solidFill>
                <a:latin typeface="Arial"/>
              </a:rPr>
              <a:t>Slide 7 of 16</a:t>
            </a:r>
          </a:p>
        </p:txBody>
      </p:sp>
      <p:sp>
        <p:nvSpPr>
          <p:cNvPr id="9" name="Rounded Rectangle 8"/>
          <p:cNvSpPr/>
          <p:nvPr/>
        </p:nvSpPr>
        <p:spPr>
          <a:xfrm>
            <a:off x="731520" y="1280160"/>
            <a:ext cx="521208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Machine Learning &amp; Preprocessing</a:t>
            </a:r>
          </a:p>
          <a:p>
            <a:pPr algn="l">
              <a:spcAft>
                <a:spcPts val="500"/>
              </a:spcAft>
            </a:pPr>
            <a:r>
              <a:rPr sz="950" b="1">
                <a:solidFill>
                  <a:srgbClr val="1E293B"/>
                </a:solidFill>
                <a:latin typeface="Arial"/>
              </a:rPr>
              <a:t>• TensorFlow 2.21:</a:t>
            </a:r>
            <a:r>
              <a:rPr sz="950">
                <a:solidFill>
                  <a:srgbClr val="1E293B"/>
                </a:solidFill>
                <a:latin typeface="Arial"/>
              </a:rPr>
              <a:t> Deep learning tensor execution engine.</a:t>
            </a:r>
          </a:p>
          <a:p>
            <a:pPr algn="l">
              <a:spcAft>
                <a:spcPts val="500"/>
              </a:spcAft>
            </a:pPr>
            <a:r>
              <a:rPr sz="950" b="1">
                <a:solidFill>
                  <a:srgbClr val="1E293B"/>
                </a:solidFill>
                <a:latin typeface="Arial"/>
              </a:rPr>
              <a:t>• Keras 3.15:</a:t>
            </a:r>
            <a:r>
              <a:rPr sz="950">
                <a:solidFill>
                  <a:srgbClr val="1E293B"/>
                </a:solidFill>
                <a:latin typeface="Arial"/>
              </a:rPr>
              <a:t> High-level sequential neural architecture API.</a:t>
            </a:r>
          </a:p>
          <a:p>
            <a:pPr algn="l">
              <a:spcAft>
                <a:spcPts val="500"/>
              </a:spcAft>
            </a:pPr>
            <a:r>
              <a:rPr sz="950" b="1">
                <a:solidFill>
                  <a:srgbClr val="1E293B"/>
                </a:solidFill>
                <a:latin typeface="Arial"/>
              </a:rPr>
              <a:t>• Scikit-Learn 1.9:</a:t>
            </a:r>
            <a:r>
              <a:rPr sz="950">
                <a:solidFill>
                  <a:srgbClr val="1E293B"/>
                </a:solidFill>
                <a:latin typeface="Arial"/>
              </a:rPr>
              <a:t> StandardScaler and LabelEncoder preprocessing.</a:t>
            </a:r>
          </a:p>
          <a:p>
            <a:pPr algn="l">
              <a:spcAft>
                <a:spcPts val="500"/>
              </a:spcAft>
            </a:pPr>
            <a:r>
              <a:rPr sz="950" b="1">
                <a:solidFill>
                  <a:srgbClr val="1E293B"/>
                </a:solidFill>
                <a:latin typeface="Arial"/>
              </a:rPr>
              <a:t>• Joblib 1.6:</a:t>
            </a:r>
            <a:r>
              <a:rPr sz="950">
                <a:solidFill>
                  <a:srgbClr val="1E293B"/>
                </a:solidFill>
                <a:latin typeface="Arial"/>
              </a:rPr>
              <a:t> High-performance artifact serialization.</a:t>
            </a:r>
          </a:p>
        </p:txBody>
      </p:sp>
      <p:sp>
        <p:nvSpPr>
          <p:cNvPr id="10" name="Rounded Rectangle 9"/>
          <p:cNvSpPr/>
          <p:nvPr/>
        </p:nvSpPr>
        <p:spPr>
          <a:xfrm>
            <a:off x="6217920" y="1280160"/>
            <a:ext cx="521208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Application Backend Server</a:t>
            </a:r>
          </a:p>
          <a:p>
            <a:pPr algn="l">
              <a:spcAft>
                <a:spcPts val="500"/>
              </a:spcAft>
            </a:pPr>
            <a:r>
              <a:rPr sz="950" b="1">
                <a:solidFill>
                  <a:srgbClr val="1E293B"/>
                </a:solidFill>
                <a:latin typeface="Arial"/>
              </a:rPr>
              <a:t>• Python 3.12:</a:t>
            </a:r>
            <a:r>
              <a:rPr sz="950">
                <a:solidFill>
                  <a:srgbClr val="1E293B"/>
                </a:solidFill>
                <a:latin typeface="Arial"/>
              </a:rPr>
              <a:t> Modern, high-performance runtime environment.</a:t>
            </a:r>
          </a:p>
          <a:p>
            <a:pPr algn="l">
              <a:spcAft>
                <a:spcPts val="500"/>
              </a:spcAft>
            </a:pPr>
            <a:r>
              <a:rPr sz="950" b="1">
                <a:solidFill>
                  <a:srgbClr val="1E293B"/>
                </a:solidFill>
                <a:latin typeface="Arial"/>
              </a:rPr>
              <a:t>• Flask 3.1:</a:t>
            </a:r>
            <a:r>
              <a:rPr sz="950">
                <a:solidFill>
                  <a:srgbClr val="1E293B"/>
                </a:solidFill>
                <a:latin typeface="Arial"/>
              </a:rPr>
              <a:t> Lightweight micro-framework for RESTful endpoints.</a:t>
            </a:r>
          </a:p>
          <a:p>
            <a:pPr algn="l">
              <a:spcAft>
                <a:spcPts val="500"/>
              </a:spcAft>
            </a:pPr>
            <a:r>
              <a:rPr sz="950" b="1">
                <a:solidFill>
                  <a:srgbClr val="1E293B"/>
                </a:solidFill>
                <a:latin typeface="Arial"/>
              </a:rPr>
              <a:t>• Flask-CORS:</a:t>
            </a:r>
            <a:r>
              <a:rPr sz="950">
                <a:solidFill>
                  <a:srgbClr val="1E293B"/>
                </a:solidFill>
                <a:latin typeface="Arial"/>
              </a:rPr>
              <a:t> Cross-Origin Resource Sharing handling.</a:t>
            </a:r>
          </a:p>
          <a:p>
            <a:pPr algn="l">
              <a:spcAft>
                <a:spcPts val="500"/>
              </a:spcAft>
            </a:pPr>
            <a:r>
              <a:rPr sz="950" b="1">
                <a:solidFill>
                  <a:srgbClr val="1E293B"/>
                </a:solidFill>
                <a:latin typeface="Arial"/>
              </a:rPr>
              <a:t>• NumPy 2.5 &amp; Pandas 3.0:</a:t>
            </a:r>
            <a:r>
              <a:rPr sz="950">
                <a:solidFill>
                  <a:srgbClr val="1E293B"/>
                </a:solidFill>
                <a:latin typeface="Arial"/>
              </a:rPr>
              <a:t> Array manipulation and statistical analytics.</a:t>
            </a:r>
          </a:p>
        </p:txBody>
      </p:sp>
      <p:sp>
        <p:nvSpPr>
          <p:cNvPr id="11" name="Rounded Rectangle 10"/>
          <p:cNvSpPr/>
          <p:nvPr/>
        </p:nvSpPr>
        <p:spPr>
          <a:xfrm>
            <a:off x="731520" y="3840480"/>
            <a:ext cx="521208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Client Frontend UI</a:t>
            </a:r>
          </a:p>
          <a:p>
            <a:pPr algn="l">
              <a:spcAft>
                <a:spcPts val="500"/>
              </a:spcAft>
            </a:pPr>
            <a:r>
              <a:rPr sz="950" b="1">
                <a:solidFill>
                  <a:srgbClr val="1E293B"/>
                </a:solidFill>
                <a:latin typeface="Arial"/>
              </a:rPr>
              <a:t>• React 19:</a:t>
            </a:r>
            <a:r>
              <a:rPr sz="950">
                <a:solidFill>
                  <a:srgbClr val="1E293B"/>
                </a:solidFill>
                <a:latin typeface="Arial"/>
              </a:rPr>
              <a:t> Component-driven reactive single-page architecture.</a:t>
            </a:r>
          </a:p>
          <a:p>
            <a:pPr algn="l">
              <a:spcAft>
                <a:spcPts val="500"/>
              </a:spcAft>
            </a:pPr>
            <a:r>
              <a:rPr sz="950" b="1">
                <a:solidFill>
                  <a:srgbClr val="1E293B"/>
                </a:solidFill>
                <a:latin typeface="Arial"/>
              </a:rPr>
              <a:t>• Vite 8:</a:t>
            </a:r>
            <a:r>
              <a:rPr sz="950">
                <a:solidFill>
                  <a:srgbClr val="1E293B"/>
                </a:solidFill>
                <a:latin typeface="Arial"/>
              </a:rPr>
              <a:t> Ultra-fast module bundler with Hot Module Replacement.</a:t>
            </a:r>
          </a:p>
          <a:p>
            <a:pPr algn="l">
              <a:spcAft>
                <a:spcPts val="500"/>
              </a:spcAft>
            </a:pPr>
            <a:r>
              <a:rPr sz="950" b="1">
                <a:solidFill>
                  <a:srgbClr val="1E293B"/>
                </a:solidFill>
                <a:latin typeface="Arial"/>
              </a:rPr>
              <a:t>• Tailwind CSS v4:</a:t>
            </a:r>
            <a:r>
              <a:rPr sz="950">
                <a:solidFill>
                  <a:srgbClr val="1E293B"/>
                </a:solidFill>
                <a:latin typeface="Arial"/>
              </a:rPr>
              <a:t> Utility-first responsive design system.</a:t>
            </a:r>
          </a:p>
          <a:p>
            <a:pPr algn="l">
              <a:spcAft>
                <a:spcPts val="500"/>
              </a:spcAft>
            </a:pPr>
            <a:r>
              <a:rPr sz="950" b="1">
                <a:solidFill>
                  <a:srgbClr val="1E293B"/>
                </a:solidFill>
                <a:latin typeface="Arial"/>
              </a:rPr>
              <a:t>• Lucide React:</a:t>
            </a:r>
            <a:r>
              <a:rPr sz="950">
                <a:solidFill>
                  <a:srgbClr val="1E293B"/>
                </a:solidFill>
                <a:latin typeface="Arial"/>
              </a:rPr>
              <a:t> Crisp vector iconography and agricultural glyphs.</a:t>
            </a:r>
          </a:p>
        </p:txBody>
      </p:sp>
      <p:sp>
        <p:nvSpPr>
          <p:cNvPr id="12" name="Rounded Rectangle 11"/>
          <p:cNvSpPr/>
          <p:nvPr/>
        </p:nvSpPr>
        <p:spPr>
          <a:xfrm>
            <a:off x="6217920" y="3840480"/>
            <a:ext cx="521208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Data Visualization &amp; Analytics</a:t>
            </a:r>
          </a:p>
          <a:p>
            <a:pPr algn="l">
              <a:spcAft>
                <a:spcPts val="500"/>
              </a:spcAft>
            </a:pPr>
            <a:r>
              <a:rPr sz="950" b="1">
                <a:solidFill>
                  <a:srgbClr val="1E293B"/>
                </a:solidFill>
                <a:latin typeface="Arial"/>
              </a:rPr>
              <a:t>• Chart.js 4.5:</a:t>
            </a:r>
            <a:r>
              <a:rPr sz="950">
                <a:solidFill>
                  <a:srgbClr val="1E293B"/>
                </a:solidFill>
                <a:latin typeface="Arial"/>
              </a:rPr>
              <a:t> Canvas-based responsive charting library.</a:t>
            </a:r>
          </a:p>
          <a:p>
            <a:pPr algn="l">
              <a:spcAft>
                <a:spcPts val="500"/>
              </a:spcAft>
            </a:pPr>
            <a:r>
              <a:rPr sz="950" b="1">
                <a:solidFill>
                  <a:srgbClr val="1E293B"/>
                </a:solidFill>
                <a:latin typeface="Arial"/>
              </a:rPr>
              <a:t>• React-ChartJS-2:</a:t>
            </a:r>
            <a:r>
              <a:rPr sz="950">
                <a:solidFill>
                  <a:srgbClr val="1E293B"/>
                </a:solidFill>
                <a:latin typeface="Arial"/>
              </a:rPr>
              <a:t> Declarative React chart wrappers.</a:t>
            </a:r>
          </a:p>
          <a:p>
            <a:pPr algn="l">
              <a:spcAft>
                <a:spcPts val="500"/>
              </a:spcAft>
            </a:pPr>
            <a:r>
              <a:rPr sz="950" b="1">
                <a:solidFill>
                  <a:srgbClr val="1E293B"/>
                </a:solidFill>
                <a:latin typeface="Arial"/>
              </a:rPr>
              <a:t>• JSON History Store:</a:t>
            </a:r>
            <a:r>
              <a:rPr sz="950">
                <a:solidFill>
                  <a:srgbClr val="1E293B"/>
                </a:solidFill>
                <a:latin typeface="Arial"/>
              </a:rPr>
              <a:t> Persistent local logging of predictions.</a:t>
            </a:r>
          </a:p>
          <a:p>
            <a:pPr algn="l">
              <a:spcAft>
                <a:spcPts val="500"/>
              </a:spcAft>
            </a:pPr>
            <a:r>
              <a:rPr sz="950" b="1">
                <a:solidFill>
                  <a:srgbClr val="1E293B"/>
                </a:solidFill>
                <a:latin typeface="Arial"/>
              </a:rPr>
              <a:t>• Playwright:</a:t>
            </a:r>
            <a:r>
              <a:rPr sz="950">
                <a:solidFill>
                  <a:srgbClr val="1E293B"/>
                </a:solidFill>
                <a:latin typeface="Arial"/>
              </a:rPr>
              <a:t> End-to-end automated UI capture and validation.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F1F"/>
          </a:solidFill>
          <a:ln>
            <a:solidFill>
              <a:srgbClr val="0F2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87552"/>
            <a:ext cx="12191695" cy="36576"/>
          </a:xfrm>
          <a:prstGeom prst="rect">
            <a:avLst/>
          </a:prstGeom>
          <a:solidFill>
            <a:srgbClr val="2D752D"/>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377440" cy="256032"/>
          </a:xfrm>
          <a:prstGeom prst="roundRect">
            <a:avLst/>
          </a:prstGeom>
          <a:solidFill>
            <a:srgbClr val="143D28"/>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E6F3E6"/>
                </a:solidFill>
                <a:latin typeface="Arial"/>
              </a:rPr>
              <a:t>SYSTEM DESIGN</a:t>
            </a:r>
          </a:p>
        </p:txBody>
      </p:sp>
      <p:sp>
        <p:nvSpPr>
          <p:cNvPr id="5" name="TextBox 4"/>
          <p:cNvSpPr txBox="1"/>
          <p:nvPr/>
        </p:nvSpPr>
        <p:spPr>
          <a:xfrm>
            <a:off x="685800" y="402336"/>
            <a:ext cx="10515600" cy="548640"/>
          </a:xfrm>
          <a:prstGeom prst="rect">
            <a:avLst/>
          </a:prstGeom>
          <a:noFill/>
        </p:spPr>
        <p:txBody>
          <a:bodyPr wrap="none">
            <a:spAutoFit/>
          </a:bodyPr>
          <a:lstStyle/>
          <a:p>
            <a:r>
              <a:rPr sz="1900" b="1">
                <a:solidFill>
                  <a:srgbClr val="FFFFFF"/>
                </a:solidFill>
                <a:latin typeface="Arial"/>
              </a:rPr>
              <a:t>Four-Tier System Architecture</a:t>
            </a:r>
          </a:p>
        </p:txBody>
      </p:sp>
      <p:sp>
        <p:nvSpPr>
          <p:cNvPr id="6" name="Rectangle 5"/>
          <p:cNvSpPr/>
          <p:nvPr/>
        </p:nvSpPr>
        <p:spPr>
          <a:xfrm>
            <a:off x="0" y="6446520"/>
            <a:ext cx="12191695" cy="4114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7315200" cy="320040"/>
          </a:xfrm>
          <a:prstGeom prst="rect">
            <a:avLst/>
          </a:prstGeom>
          <a:noFill/>
        </p:spPr>
        <p:txBody>
          <a:bodyPr wrap="none">
            <a:spAutoFit/>
          </a:bodyPr>
          <a:lstStyle/>
          <a:p>
            <a:r>
              <a:rPr sz="850">
                <a:solidFill>
                  <a:srgbClr val="64748B"/>
                </a:solidFill>
                <a:latin typeface="Arial"/>
              </a:rPr>
              <a:t>AgriSmart AI — Intelligent Crop Recommendation System  |  University Project Demonstration</a:t>
            </a:r>
          </a:p>
        </p:txBody>
      </p:sp>
      <p:sp>
        <p:nvSpPr>
          <p:cNvPr id="8" name="TextBox 7"/>
          <p:cNvSpPr txBox="1"/>
          <p:nvPr/>
        </p:nvSpPr>
        <p:spPr>
          <a:xfrm>
            <a:off x="9601200" y="6473952"/>
            <a:ext cx="1828800" cy="320040"/>
          </a:xfrm>
          <a:prstGeom prst="rect">
            <a:avLst/>
          </a:prstGeom>
          <a:noFill/>
        </p:spPr>
        <p:txBody>
          <a:bodyPr wrap="none">
            <a:spAutoFit/>
          </a:bodyPr>
          <a:lstStyle/>
          <a:p>
            <a:pPr algn="r"/>
            <a:r>
              <a:rPr sz="850" b="1">
                <a:solidFill>
                  <a:srgbClr val="2D752D"/>
                </a:solidFill>
                <a:latin typeface="Arial"/>
              </a:rPr>
              <a:t>Slide 8 of 16</a:t>
            </a:r>
          </a:p>
        </p:txBody>
      </p:sp>
      <p:pic>
        <p:nvPicPr>
          <p:cNvPr id="9" name="Picture 8" descr="system_architecture.png"/>
          <p:cNvPicPr>
            <a:picLocks noChangeAspect="1"/>
          </p:cNvPicPr>
          <p:nvPr/>
        </p:nvPicPr>
        <p:blipFill>
          <a:blip r:embed="rId2"/>
          <a:stretch>
            <a:fillRect/>
          </a:stretch>
        </p:blipFill>
        <p:spPr>
          <a:xfrm>
            <a:off x="731520" y="1280160"/>
            <a:ext cx="10728655" cy="48463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F1F"/>
          </a:solidFill>
          <a:ln>
            <a:solidFill>
              <a:srgbClr val="0F2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87552"/>
            <a:ext cx="12191695" cy="36576"/>
          </a:xfrm>
          <a:prstGeom prst="rect">
            <a:avLst/>
          </a:prstGeom>
          <a:solidFill>
            <a:srgbClr val="2D752D"/>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377440" cy="256032"/>
          </a:xfrm>
          <a:prstGeom prst="roundRect">
            <a:avLst/>
          </a:prstGeom>
          <a:solidFill>
            <a:srgbClr val="143D28"/>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E6F3E6"/>
                </a:solidFill>
                <a:latin typeface="Arial"/>
              </a:rPr>
              <a:t>DATAFLOW &amp; INFERENCE</a:t>
            </a:r>
          </a:p>
        </p:txBody>
      </p:sp>
      <p:sp>
        <p:nvSpPr>
          <p:cNvPr id="5" name="TextBox 4"/>
          <p:cNvSpPr txBox="1"/>
          <p:nvPr/>
        </p:nvSpPr>
        <p:spPr>
          <a:xfrm>
            <a:off x="685800" y="402336"/>
            <a:ext cx="10515600" cy="548640"/>
          </a:xfrm>
          <a:prstGeom prst="rect">
            <a:avLst/>
          </a:prstGeom>
          <a:noFill/>
        </p:spPr>
        <p:txBody>
          <a:bodyPr wrap="none">
            <a:spAutoFit/>
          </a:bodyPr>
          <a:lstStyle/>
          <a:p>
            <a:r>
              <a:rPr sz="1900" b="1">
                <a:solidFill>
                  <a:srgbClr val="FFFFFF"/>
                </a:solidFill>
                <a:latin typeface="Arial"/>
              </a:rPr>
              <a:t>End-to-End Prediction Workflow Pipeline</a:t>
            </a:r>
          </a:p>
        </p:txBody>
      </p:sp>
      <p:sp>
        <p:nvSpPr>
          <p:cNvPr id="6" name="Rectangle 5"/>
          <p:cNvSpPr/>
          <p:nvPr/>
        </p:nvSpPr>
        <p:spPr>
          <a:xfrm>
            <a:off x="0" y="6446520"/>
            <a:ext cx="12191695" cy="4114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7315200" cy="320040"/>
          </a:xfrm>
          <a:prstGeom prst="rect">
            <a:avLst/>
          </a:prstGeom>
          <a:noFill/>
        </p:spPr>
        <p:txBody>
          <a:bodyPr wrap="none">
            <a:spAutoFit/>
          </a:bodyPr>
          <a:lstStyle/>
          <a:p>
            <a:r>
              <a:rPr sz="850">
                <a:solidFill>
                  <a:srgbClr val="64748B"/>
                </a:solidFill>
                <a:latin typeface="Arial"/>
              </a:rPr>
              <a:t>AgriSmart AI — Intelligent Crop Recommendation System  |  University Project Demonstration</a:t>
            </a:r>
          </a:p>
        </p:txBody>
      </p:sp>
      <p:sp>
        <p:nvSpPr>
          <p:cNvPr id="8" name="TextBox 7"/>
          <p:cNvSpPr txBox="1"/>
          <p:nvPr/>
        </p:nvSpPr>
        <p:spPr>
          <a:xfrm>
            <a:off x="9601200" y="6473952"/>
            <a:ext cx="1828800" cy="320040"/>
          </a:xfrm>
          <a:prstGeom prst="rect">
            <a:avLst/>
          </a:prstGeom>
          <a:noFill/>
        </p:spPr>
        <p:txBody>
          <a:bodyPr wrap="none">
            <a:spAutoFit/>
          </a:bodyPr>
          <a:lstStyle/>
          <a:p>
            <a:pPr algn="r"/>
            <a:r>
              <a:rPr sz="850" b="1">
                <a:solidFill>
                  <a:srgbClr val="2D752D"/>
                </a:solidFill>
                <a:latin typeface="Arial"/>
              </a:rPr>
              <a:t>Slide 9 of 16</a:t>
            </a:r>
          </a:p>
        </p:txBody>
      </p:sp>
      <p:pic>
        <p:nvPicPr>
          <p:cNvPr id="9" name="Picture 8" descr="prediction_workflow.png"/>
          <p:cNvPicPr>
            <a:picLocks noChangeAspect="1"/>
          </p:cNvPicPr>
          <p:nvPr/>
        </p:nvPicPr>
        <p:blipFill>
          <a:blip r:embed="rId2"/>
          <a:stretch>
            <a:fillRect/>
          </a:stretch>
        </p:blipFill>
        <p:spPr>
          <a:xfrm>
            <a:off x="731520" y="1280160"/>
            <a:ext cx="10728655" cy="2926080"/>
          </a:xfrm>
          <a:prstGeom prst="rect">
            <a:avLst/>
          </a:prstGeom>
        </p:spPr>
      </p:pic>
      <p:sp>
        <p:nvSpPr>
          <p:cNvPr id="10" name="Rounded Rectangle 9"/>
          <p:cNvSpPr/>
          <p:nvPr/>
        </p:nvSpPr>
        <p:spPr>
          <a:xfrm>
            <a:off x="731520" y="4389120"/>
            <a:ext cx="10728655" cy="18288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Pipeline Execution Mechanics</a:t>
            </a:r>
          </a:p>
          <a:p>
            <a:pPr algn="l">
              <a:spcAft>
                <a:spcPts val="500"/>
              </a:spcAft>
            </a:pPr>
            <a:r>
              <a:rPr sz="950" b="1">
                <a:solidFill>
                  <a:srgbClr val="1E293B"/>
                </a:solidFill>
                <a:latin typeface="Arial"/>
              </a:rPr>
              <a:t>• Step 1 (Ingestion):</a:t>
            </a:r>
            <a:r>
              <a:rPr sz="950">
                <a:solidFill>
                  <a:srgbClr val="1E293B"/>
                </a:solidFill>
                <a:latin typeface="Arial"/>
              </a:rPr>
              <a:t> User submits 7 continuous values (N, P, K, Temp, Humidity, pH, Rainfall) via the web form.</a:t>
            </a:r>
          </a:p>
          <a:p>
            <a:pPr algn="l">
              <a:spcAft>
                <a:spcPts val="500"/>
              </a:spcAft>
            </a:pPr>
            <a:r>
              <a:rPr sz="950" b="1">
                <a:solidFill>
                  <a:srgbClr val="1E293B"/>
                </a:solidFill>
                <a:latin typeface="Arial"/>
              </a:rPr>
              <a:t>• Step 2 (StandardScaler Preprocessing):</a:t>
            </a:r>
            <a:r>
              <a:rPr sz="950">
                <a:solidFill>
                  <a:srgbClr val="1E293B"/>
                </a:solidFill>
                <a:latin typeface="Arial"/>
              </a:rPr>
              <a:t> Inputs are transformed into standard normal variates using z = (x - μ) / σ based on fitted training distribution parameters.</a:t>
            </a:r>
          </a:p>
          <a:p>
            <a:pPr algn="l">
              <a:spcAft>
                <a:spcPts val="500"/>
              </a:spcAft>
            </a:pPr>
            <a:r>
              <a:rPr sz="950" b="1">
                <a:solidFill>
                  <a:srgbClr val="1E293B"/>
                </a:solidFill>
                <a:latin typeface="Arial"/>
              </a:rPr>
              <a:t>• Step 3 (Neural Inference):</a:t>
            </a:r>
            <a:r>
              <a:rPr sz="950">
                <a:solidFill>
                  <a:srgbClr val="1E293B"/>
                </a:solidFill>
                <a:latin typeface="Arial"/>
              </a:rPr>
              <a:t> The 6-layer Keras Sequential model executes feedforward tensor multiplication across 10,484 parameters, generating unnormalized logits.</a:t>
            </a:r>
          </a:p>
          <a:p>
            <a:pPr algn="l">
              <a:spcAft>
                <a:spcPts val="500"/>
              </a:spcAft>
            </a:pPr>
            <a:r>
              <a:rPr sz="950" b="1">
                <a:solidFill>
                  <a:srgbClr val="1E293B"/>
                </a:solidFill>
                <a:latin typeface="Arial"/>
              </a:rPr>
              <a:t>• Step 4 (Softmax &amp; LabelEncoder):</a:t>
            </a:r>
            <a:r>
              <a:rPr sz="950">
                <a:solidFill>
                  <a:srgbClr val="1E293B"/>
                </a:solidFill>
                <a:latin typeface="Arial"/>
              </a:rPr>
              <a:t> Softmax normalizes logits into a 22-class probability simplex. LabelEncoder maps the argmax index to the certified crop name.</a:t>
            </a:r>
          </a:p>
          <a:p>
            <a:pPr algn="l">
              <a:spcAft>
                <a:spcPts val="500"/>
              </a:spcAft>
            </a:pPr>
            <a:r>
              <a:rPr sz="950" b="1">
                <a:solidFill>
                  <a:srgbClr val="1E293B"/>
                </a:solidFill>
                <a:latin typeface="Arial"/>
              </a:rPr>
              <a:t>• Step 5 (Advisory Delivery):</a:t>
            </a:r>
            <a:r>
              <a:rPr sz="950">
                <a:solidFill>
                  <a:srgbClr val="1E293B"/>
                </a:solidFill>
                <a:latin typeface="Arial"/>
              </a:rPr>
              <a:t> The top-3 candidate crops are ranked by descending probability and displayed with complete cultivation advisories.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F1F"/>
          </a:solidFill>
          <a:ln>
            <a:solidFill>
              <a:srgbClr val="0F2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87552"/>
            <a:ext cx="12191695" cy="36576"/>
          </a:xfrm>
          <a:prstGeom prst="rect">
            <a:avLst/>
          </a:prstGeom>
          <a:solidFill>
            <a:srgbClr val="2D752D"/>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377440" cy="256032"/>
          </a:xfrm>
          <a:prstGeom prst="roundRect">
            <a:avLst/>
          </a:prstGeom>
          <a:solidFill>
            <a:srgbClr val="143D28"/>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E6F3E6"/>
                </a:solidFill>
                <a:latin typeface="Arial"/>
              </a:rPr>
              <a:t>DEEP LEARNING MODEL</a:t>
            </a:r>
          </a:p>
        </p:txBody>
      </p:sp>
      <p:sp>
        <p:nvSpPr>
          <p:cNvPr id="5" name="TextBox 4"/>
          <p:cNvSpPr txBox="1"/>
          <p:nvPr/>
        </p:nvSpPr>
        <p:spPr>
          <a:xfrm>
            <a:off x="685800" y="402336"/>
            <a:ext cx="10515600" cy="548640"/>
          </a:xfrm>
          <a:prstGeom prst="rect">
            <a:avLst/>
          </a:prstGeom>
          <a:noFill/>
        </p:spPr>
        <p:txBody>
          <a:bodyPr wrap="none">
            <a:spAutoFit/>
          </a:bodyPr>
          <a:lstStyle/>
          <a:p>
            <a:r>
              <a:rPr sz="1900" b="1">
                <a:solidFill>
                  <a:srgbClr val="FFFFFF"/>
                </a:solidFill>
                <a:latin typeface="Arial"/>
              </a:rPr>
              <a:t>Neural Network Architecture &amp; Layer Topology</a:t>
            </a:r>
          </a:p>
        </p:txBody>
      </p:sp>
      <p:sp>
        <p:nvSpPr>
          <p:cNvPr id="6" name="Rectangle 5"/>
          <p:cNvSpPr/>
          <p:nvPr/>
        </p:nvSpPr>
        <p:spPr>
          <a:xfrm>
            <a:off x="0" y="6446520"/>
            <a:ext cx="12191695" cy="4114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7315200" cy="320040"/>
          </a:xfrm>
          <a:prstGeom prst="rect">
            <a:avLst/>
          </a:prstGeom>
          <a:noFill/>
        </p:spPr>
        <p:txBody>
          <a:bodyPr wrap="none">
            <a:spAutoFit/>
          </a:bodyPr>
          <a:lstStyle/>
          <a:p>
            <a:r>
              <a:rPr sz="850">
                <a:solidFill>
                  <a:srgbClr val="64748B"/>
                </a:solidFill>
                <a:latin typeface="Arial"/>
              </a:rPr>
              <a:t>AgriSmart AI — Intelligent Crop Recommendation System  |  University Project Demonstration</a:t>
            </a:r>
          </a:p>
        </p:txBody>
      </p:sp>
      <p:sp>
        <p:nvSpPr>
          <p:cNvPr id="8" name="TextBox 7"/>
          <p:cNvSpPr txBox="1"/>
          <p:nvPr/>
        </p:nvSpPr>
        <p:spPr>
          <a:xfrm>
            <a:off x="9601200" y="6473952"/>
            <a:ext cx="1828800" cy="320040"/>
          </a:xfrm>
          <a:prstGeom prst="rect">
            <a:avLst/>
          </a:prstGeom>
          <a:noFill/>
        </p:spPr>
        <p:txBody>
          <a:bodyPr wrap="none">
            <a:spAutoFit/>
          </a:bodyPr>
          <a:lstStyle/>
          <a:p>
            <a:pPr algn="r"/>
            <a:r>
              <a:rPr sz="850" b="1">
                <a:solidFill>
                  <a:srgbClr val="2D752D"/>
                </a:solidFill>
                <a:latin typeface="Arial"/>
              </a:rPr>
              <a:t>Slide 10 of 16</a:t>
            </a:r>
          </a:p>
        </p:txBody>
      </p:sp>
      <p:graphicFrame>
        <p:nvGraphicFramePr>
          <p:cNvPr id="9" name="Table 8"/>
          <p:cNvGraphicFramePr>
            <a:graphicFrameLocks noGrp="1"/>
          </p:cNvGraphicFramePr>
          <p:nvPr/>
        </p:nvGraphicFramePr>
        <p:xfrm>
          <a:off x="731520" y="1280160"/>
          <a:ext cx="6858000" cy="4846320"/>
        </p:xfrm>
        <a:graphic>
          <a:graphicData uri="http://schemas.openxmlformats.org/drawingml/2006/table">
            <a:tbl>
              <a:tblPr firstRow="1" bandRow="1">
                <a:tableStyleId>{5C22544A-7EE6-4342-B048-85BDC9FD1C3A}</a:tableStyleId>
              </a:tblPr>
              <a:tblGrid>
                <a:gridCol w="1828800"/>
                <a:gridCol w="1371600"/>
                <a:gridCol w="1371600"/>
                <a:gridCol w="2286000"/>
              </a:tblGrid>
              <a:tr h="692331">
                <a:tc>
                  <a:txBody>
                    <a:bodyPr/>
                    <a:lstStyle/>
                    <a:p>
                      <a:pPr algn="ctr"/>
                      <a:r>
                        <a:rPr sz="1000" b="1">
                          <a:solidFill>
                            <a:srgbClr val="FFFFFF"/>
                          </a:solidFill>
                          <a:latin typeface="Arial"/>
                        </a:rPr>
                        <a:t>Layer Name</a:t>
                      </a:r>
                    </a:p>
                  </a:txBody>
                  <a:tcPr>
                    <a:solidFill>
                      <a:srgbClr val="0F2F1F"/>
                    </a:solidFill>
                  </a:tcPr>
                </a:tc>
                <a:tc>
                  <a:txBody>
                    <a:bodyPr/>
                    <a:lstStyle/>
                    <a:p>
                      <a:pPr algn="ctr"/>
                      <a:r>
                        <a:rPr sz="1000" b="1">
                          <a:solidFill>
                            <a:srgbClr val="FFFFFF"/>
                          </a:solidFill>
                          <a:latin typeface="Arial"/>
                        </a:rPr>
                        <a:t>Activation</a:t>
                      </a:r>
                    </a:p>
                  </a:txBody>
                  <a:tcPr>
                    <a:solidFill>
                      <a:srgbClr val="0F2F1F"/>
                    </a:solidFill>
                  </a:tcPr>
                </a:tc>
                <a:tc>
                  <a:txBody>
                    <a:bodyPr/>
                    <a:lstStyle/>
                    <a:p>
                      <a:pPr algn="ctr"/>
                      <a:r>
                        <a:rPr sz="1000" b="1">
                          <a:solidFill>
                            <a:srgbClr val="FFFFFF"/>
                          </a:solidFill>
                          <a:latin typeface="Arial"/>
                        </a:rPr>
                        <a:t>Output Shape</a:t>
                      </a:r>
                    </a:p>
                  </a:txBody>
                  <a:tcPr>
                    <a:solidFill>
                      <a:srgbClr val="0F2F1F"/>
                    </a:solidFill>
                  </a:tcPr>
                </a:tc>
                <a:tc>
                  <a:txBody>
                    <a:bodyPr/>
                    <a:lstStyle/>
                    <a:p>
                      <a:pPr algn="ctr"/>
                      <a:r>
                        <a:rPr sz="1000" b="1">
                          <a:solidFill>
                            <a:srgbClr val="FFFFFF"/>
                          </a:solidFill>
                          <a:latin typeface="Arial"/>
                        </a:rPr>
                        <a:t>Param Calculation</a:t>
                      </a:r>
                    </a:p>
                  </a:txBody>
                  <a:tcPr>
                    <a:solidFill>
                      <a:srgbClr val="0F2F1F"/>
                    </a:solidFill>
                  </a:tcPr>
                </a:tc>
              </a:tr>
              <a:tr h="692331">
                <a:tc>
                  <a:txBody>
                    <a:bodyPr/>
                    <a:lstStyle/>
                    <a:p>
                      <a:r>
                        <a:rPr sz="900" b="1">
                          <a:solidFill>
                            <a:srgbClr val="1E293B"/>
                          </a:solidFill>
                          <a:latin typeface="Arial"/>
                        </a:rPr>
                        <a:t>dense (Input/Dense)</a:t>
                      </a:r>
                    </a:p>
                  </a:txBody>
                  <a:tcPr>
                    <a:solidFill>
                      <a:srgbClr val="FFFFFF"/>
                    </a:solidFill>
                  </a:tcPr>
                </a:tc>
                <a:tc>
                  <a:txBody>
                    <a:bodyPr/>
                    <a:lstStyle/>
                    <a:p>
                      <a:r>
                        <a:rPr sz="900" b="0">
                          <a:solidFill>
                            <a:srgbClr val="1E293B"/>
                          </a:solidFill>
                          <a:latin typeface="Arial"/>
                        </a:rPr>
                        <a:t>ReLU</a:t>
                      </a:r>
                    </a:p>
                  </a:txBody>
                  <a:tcPr>
                    <a:solidFill>
                      <a:srgbClr val="FFFFFF"/>
                    </a:solidFill>
                  </a:tcPr>
                </a:tc>
                <a:tc>
                  <a:txBody>
                    <a:bodyPr/>
                    <a:lstStyle/>
                    <a:p>
                      <a:r>
                        <a:rPr sz="900" b="0">
                          <a:solidFill>
                            <a:srgbClr val="1E293B"/>
                          </a:solidFill>
                          <a:latin typeface="Arial"/>
                        </a:rPr>
                        <a:t>(None, 64)</a:t>
                      </a:r>
                    </a:p>
                  </a:txBody>
                  <a:tcPr>
                    <a:solidFill>
                      <a:srgbClr val="FFFFFF"/>
                    </a:solidFill>
                  </a:tcPr>
                </a:tc>
                <a:tc>
                  <a:txBody>
                    <a:bodyPr/>
                    <a:lstStyle/>
                    <a:p>
                      <a:r>
                        <a:rPr sz="900" b="0">
                          <a:solidFill>
                            <a:srgbClr val="1E293B"/>
                          </a:solidFill>
                          <a:latin typeface="Arial"/>
                        </a:rPr>
                        <a:t>512  [(7 inputs + 1) × 64]</a:t>
                      </a:r>
                    </a:p>
                  </a:txBody>
                  <a:tcPr>
                    <a:solidFill>
                      <a:srgbClr val="FFFFFF"/>
                    </a:solidFill>
                  </a:tcPr>
                </a:tc>
              </a:tr>
              <a:tr h="692331">
                <a:tc>
                  <a:txBody>
                    <a:bodyPr/>
                    <a:lstStyle/>
                    <a:p>
                      <a:r>
                        <a:rPr sz="900" b="1">
                          <a:solidFill>
                            <a:srgbClr val="1E293B"/>
                          </a:solidFill>
                          <a:latin typeface="Arial"/>
                        </a:rPr>
                        <a:t>dropout (Dropout)</a:t>
                      </a:r>
                    </a:p>
                  </a:txBody>
                  <a:tcPr>
                    <a:solidFill>
                      <a:srgbClr val="F7F9F6"/>
                    </a:solidFill>
                  </a:tcPr>
                </a:tc>
                <a:tc>
                  <a:txBody>
                    <a:bodyPr/>
                    <a:lstStyle/>
                    <a:p>
                      <a:r>
                        <a:rPr sz="900" b="0">
                          <a:solidFill>
                            <a:srgbClr val="1E293B"/>
                          </a:solidFill>
                          <a:latin typeface="Arial"/>
                        </a:rPr>
                        <a:t>Rate = 0.2</a:t>
                      </a:r>
                    </a:p>
                  </a:txBody>
                  <a:tcPr>
                    <a:solidFill>
                      <a:srgbClr val="F7F9F6"/>
                    </a:solidFill>
                  </a:tcPr>
                </a:tc>
                <a:tc>
                  <a:txBody>
                    <a:bodyPr/>
                    <a:lstStyle/>
                    <a:p>
                      <a:r>
                        <a:rPr sz="900" b="0">
                          <a:solidFill>
                            <a:srgbClr val="1E293B"/>
                          </a:solidFill>
                          <a:latin typeface="Arial"/>
                        </a:rPr>
                        <a:t>(None, 64)</a:t>
                      </a:r>
                    </a:p>
                  </a:txBody>
                  <a:tcPr>
                    <a:solidFill>
                      <a:srgbClr val="F7F9F6"/>
                    </a:solidFill>
                  </a:tcPr>
                </a:tc>
                <a:tc>
                  <a:txBody>
                    <a:bodyPr/>
                    <a:lstStyle/>
                    <a:p>
                      <a:r>
                        <a:rPr sz="900" b="0">
                          <a:solidFill>
                            <a:srgbClr val="1E293B"/>
                          </a:solidFill>
                          <a:latin typeface="Arial"/>
                        </a:rPr>
                        <a:t>0  [Regularization]</a:t>
                      </a:r>
                    </a:p>
                  </a:txBody>
                  <a:tcPr>
                    <a:solidFill>
                      <a:srgbClr val="F7F9F6"/>
                    </a:solidFill>
                  </a:tcPr>
                </a:tc>
              </a:tr>
              <a:tr h="692331">
                <a:tc>
                  <a:txBody>
                    <a:bodyPr/>
                    <a:lstStyle/>
                    <a:p>
                      <a:r>
                        <a:rPr sz="900" b="1">
                          <a:solidFill>
                            <a:srgbClr val="1E293B"/>
                          </a:solidFill>
                          <a:latin typeface="Arial"/>
                        </a:rPr>
                        <a:t>dense_1 (Hidden 1)</a:t>
                      </a:r>
                    </a:p>
                  </a:txBody>
                  <a:tcPr>
                    <a:solidFill>
                      <a:srgbClr val="FFFFFF"/>
                    </a:solidFill>
                  </a:tcPr>
                </a:tc>
                <a:tc>
                  <a:txBody>
                    <a:bodyPr/>
                    <a:lstStyle/>
                    <a:p>
                      <a:r>
                        <a:rPr sz="900" b="0">
                          <a:solidFill>
                            <a:srgbClr val="1E293B"/>
                          </a:solidFill>
                          <a:latin typeface="Arial"/>
                        </a:rPr>
                        <a:t>ReLU</a:t>
                      </a:r>
                    </a:p>
                  </a:txBody>
                  <a:tcPr>
                    <a:solidFill>
                      <a:srgbClr val="FFFFFF"/>
                    </a:solidFill>
                  </a:tcPr>
                </a:tc>
                <a:tc>
                  <a:txBody>
                    <a:bodyPr/>
                    <a:lstStyle/>
                    <a:p>
                      <a:r>
                        <a:rPr sz="900" b="0">
                          <a:solidFill>
                            <a:srgbClr val="1E293B"/>
                          </a:solidFill>
                          <a:latin typeface="Arial"/>
                        </a:rPr>
                        <a:t>(None, 32)</a:t>
                      </a:r>
                    </a:p>
                  </a:txBody>
                  <a:tcPr>
                    <a:solidFill>
                      <a:srgbClr val="FFFFFF"/>
                    </a:solidFill>
                  </a:tcPr>
                </a:tc>
                <a:tc>
                  <a:txBody>
                    <a:bodyPr/>
                    <a:lstStyle/>
                    <a:p>
                      <a:r>
                        <a:rPr sz="900" b="0">
                          <a:solidFill>
                            <a:srgbClr val="1E293B"/>
                          </a:solidFill>
                          <a:latin typeface="Arial"/>
                        </a:rPr>
                        <a:t>2,080  [(64 + 1) × 32]</a:t>
                      </a:r>
                    </a:p>
                  </a:txBody>
                  <a:tcPr>
                    <a:solidFill>
                      <a:srgbClr val="FFFFFF"/>
                    </a:solidFill>
                  </a:tcPr>
                </a:tc>
              </a:tr>
              <a:tr h="692331">
                <a:tc>
                  <a:txBody>
                    <a:bodyPr/>
                    <a:lstStyle/>
                    <a:p>
                      <a:r>
                        <a:rPr sz="900" b="1">
                          <a:solidFill>
                            <a:srgbClr val="1E293B"/>
                          </a:solidFill>
                          <a:latin typeface="Arial"/>
                        </a:rPr>
                        <a:t>dropout_1 (Dropout)</a:t>
                      </a:r>
                    </a:p>
                  </a:txBody>
                  <a:tcPr>
                    <a:solidFill>
                      <a:srgbClr val="F7F9F6"/>
                    </a:solidFill>
                  </a:tcPr>
                </a:tc>
                <a:tc>
                  <a:txBody>
                    <a:bodyPr/>
                    <a:lstStyle/>
                    <a:p>
                      <a:r>
                        <a:rPr sz="900" b="0">
                          <a:solidFill>
                            <a:srgbClr val="1E293B"/>
                          </a:solidFill>
                          <a:latin typeface="Arial"/>
                        </a:rPr>
                        <a:t>Rate = 0.2</a:t>
                      </a:r>
                    </a:p>
                  </a:txBody>
                  <a:tcPr>
                    <a:solidFill>
                      <a:srgbClr val="F7F9F6"/>
                    </a:solidFill>
                  </a:tcPr>
                </a:tc>
                <a:tc>
                  <a:txBody>
                    <a:bodyPr/>
                    <a:lstStyle/>
                    <a:p>
                      <a:r>
                        <a:rPr sz="900" b="0">
                          <a:solidFill>
                            <a:srgbClr val="1E293B"/>
                          </a:solidFill>
                          <a:latin typeface="Arial"/>
                        </a:rPr>
                        <a:t>(None, 32)</a:t>
                      </a:r>
                    </a:p>
                  </a:txBody>
                  <a:tcPr>
                    <a:solidFill>
                      <a:srgbClr val="F7F9F6"/>
                    </a:solidFill>
                  </a:tcPr>
                </a:tc>
                <a:tc>
                  <a:txBody>
                    <a:bodyPr/>
                    <a:lstStyle/>
                    <a:p>
                      <a:r>
                        <a:rPr sz="900" b="0">
                          <a:solidFill>
                            <a:srgbClr val="1E293B"/>
                          </a:solidFill>
                          <a:latin typeface="Arial"/>
                        </a:rPr>
                        <a:t>0  [Regularization]</a:t>
                      </a:r>
                    </a:p>
                  </a:txBody>
                  <a:tcPr>
                    <a:solidFill>
                      <a:srgbClr val="F7F9F6"/>
                    </a:solidFill>
                  </a:tcPr>
                </a:tc>
              </a:tr>
              <a:tr h="692331">
                <a:tc>
                  <a:txBody>
                    <a:bodyPr/>
                    <a:lstStyle/>
                    <a:p>
                      <a:r>
                        <a:rPr sz="900" b="1">
                          <a:solidFill>
                            <a:srgbClr val="1E293B"/>
                          </a:solidFill>
                          <a:latin typeface="Arial"/>
                        </a:rPr>
                        <a:t>dense_2 (Hidden 2)</a:t>
                      </a:r>
                    </a:p>
                  </a:txBody>
                  <a:tcPr>
                    <a:solidFill>
                      <a:srgbClr val="FFFFFF"/>
                    </a:solidFill>
                  </a:tcPr>
                </a:tc>
                <a:tc>
                  <a:txBody>
                    <a:bodyPr/>
                    <a:lstStyle/>
                    <a:p>
                      <a:r>
                        <a:rPr sz="900" b="0">
                          <a:solidFill>
                            <a:srgbClr val="1E293B"/>
                          </a:solidFill>
                          <a:latin typeface="Arial"/>
                        </a:rPr>
                        <a:t>ReLU</a:t>
                      </a:r>
                    </a:p>
                  </a:txBody>
                  <a:tcPr>
                    <a:solidFill>
                      <a:srgbClr val="FFFFFF"/>
                    </a:solidFill>
                  </a:tcPr>
                </a:tc>
                <a:tc>
                  <a:txBody>
                    <a:bodyPr/>
                    <a:lstStyle/>
                    <a:p>
                      <a:r>
                        <a:rPr sz="900" b="0">
                          <a:solidFill>
                            <a:srgbClr val="1E293B"/>
                          </a:solidFill>
                          <a:latin typeface="Arial"/>
                        </a:rPr>
                        <a:t>(None, 16)</a:t>
                      </a:r>
                    </a:p>
                  </a:txBody>
                  <a:tcPr>
                    <a:solidFill>
                      <a:srgbClr val="FFFFFF"/>
                    </a:solidFill>
                  </a:tcPr>
                </a:tc>
                <a:tc>
                  <a:txBody>
                    <a:bodyPr/>
                    <a:lstStyle/>
                    <a:p>
                      <a:r>
                        <a:rPr sz="900" b="0">
                          <a:solidFill>
                            <a:srgbClr val="1E293B"/>
                          </a:solidFill>
                          <a:latin typeface="Arial"/>
                        </a:rPr>
                        <a:t>528  [(32 + 1) × 16]</a:t>
                      </a:r>
                    </a:p>
                  </a:txBody>
                  <a:tcPr>
                    <a:solidFill>
                      <a:srgbClr val="FFFFFF"/>
                    </a:solidFill>
                  </a:tcPr>
                </a:tc>
              </a:tr>
              <a:tr h="692334">
                <a:tc>
                  <a:txBody>
                    <a:bodyPr/>
                    <a:lstStyle/>
                    <a:p>
                      <a:r>
                        <a:rPr sz="900" b="1">
                          <a:solidFill>
                            <a:srgbClr val="1E293B"/>
                          </a:solidFill>
                          <a:latin typeface="Arial"/>
                        </a:rPr>
                        <a:t>dense_3 (Output)</a:t>
                      </a:r>
                    </a:p>
                  </a:txBody>
                  <a:tcPr>
                    <a:solidFill>
                      <a:srgbClr val="F7F9F6"/>
                    </a:solidFill>
                  </a:tcPr>
                </a:tc>
                <a:tc>
                  <a:txBody>
                    <a:bodyPr/>
                    <a:lstStyle/>
                    <a:p>
                      <a:r>
                        <a:rPr sz="900" b="0">
                          <a:solidFill>
                            <a:srgbClr val="1E293B"/>
                          </a:solidFill>
                          <a:latin typeface="Arial"/>
                        </a:rPr>
                        <a:t>Softmax</a:t>
                      </a:r>
                    </a:p>
                  </a:txBody>
                  <a:tcPr>
                    <a:solidFill>
                      <a:srgbClr val="F7F9F6"/>
                    </a:solidFill>
                  </a:tcPr>
                </a:tc>
                <a:tc>
                  <a:txBody>
                    <a:bodyPr/>
                    <a:lstStyle/>
                    <a:p>
                      <a:r>
                        <a:rPr sz="900" b="0">
                          <a:solidFill>
                            <a:srgbClr val="1E293B"/>
                          </a:solidFill>
                          <a:latin typeface="Arial"/>
                        </a:rPr>
                        <a:t>(None, 22)</a:t>
                      </a:r>
                    </a:p>
                  </a:txBody>
                  <a:tcPr>
                    <a:solidFill>
                      <a:srgbClr val="F7F9F6"/>
                    </a:solidFill>
                  </a:tcPr>
                </a:tc>
                <a:tc>
                  <a:txBody>
                    <a:bodyPr/>
                    <a:lstStyle/>
                    <a:p>
                      <a:r>
                        <a:rPr sz="900" b="0">
                          <a:solidFill>
                            <a:srgbClr val="1E293B"/>
                          </a:solidFill>
                          <a:latin typeface="Arial"/>
                        </a:rPr>
                        <a:t>374  [(16 + 1) × 22]</a:t>
                      </a:r>
                    </a:p>
                  </a:txBody>
                  <a:tcPr>
                    <a:solidFill>
                      <a:srgbClr val="F7F9F6"/>
                    </a:solidFill>
                  </a:tcPr>
                </a:tc>
              </a:tr>
            </a:tbl>
          </a:graphicData>
        </a:graphic>
      </p:graphicFrame>
      <p:sp>
        <p:nvSpPr>
          <p:cNvPr id="10" name="Rounded Rectangle 9"/>
          <p:cNvSpPr/>
          <p:nvPr/>
        </p:nvSpPr>
        <p:spPr>
          <a:xfrm>
            <a:off x="7863840" y="1280160"/>
            <a:ext cx="3566160"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Training &amp; Hyperparameters</a:t>
            </a:r>
          </a:p>
          <a:p>
            <a:pPr algn="l">
              <a:spcAft>
                <a:spcPts val="500"/>
              </a:spcAft>
            </a:pPr>
            <a:r>
              <a:rPr sz="950" b="1">
                <a:solidFill>
                  <a:srgbClr val="1E293B"/>
                </a:solidFill>
                <a:latin typeface="Arial"/>
              </a:rPr>
              <a:t>• Total Parameters:</a:t>
            </a:r>
            <a:r>
              <a:rPr sz="950">
                <a:solidFill>
                  <a:srgbClr val="1E293B"/>
                </a:solidFill>
                <a:latin typeface="Arial"/>
              </a:rPr>
              <a:t> 10,484 (40.96 KB total memory footprint).</a:t>
            </a:r>
          </a:p>
          <a:p>
            <a:pPr algn="l">
              <a:spcAft>
                <a:spcPts val="500"/>
              </a:spcAft>
            </a:pPr>
            <a:r>
              <a:rPr sz="950" b="1">
                <a:solidFill>
                  <a:srgbClr val="1E293B"/>
                </a:solidFill>
                <a:latin typeface="Arial"/>
              </a:rPr>
              <a:t>• Trainable Weights:</a:t>
            </a:r>
            <a:r>
              <a:rPr sz="950">
                <a:solidFill>
                  <a:srgbClr val="1E293B"/>
                </a:solidFill>
                <a:latin typeface="Arial"/>
              </a:rPr>
              <a:t> 3,494 parameters (13.65 KB).</a:t>
            </a:r>
          </a:p>
          <a:p>
            <a:pPr algn="l">
              <a:spcAft>
                <a:spcPts val="500"/>
              </a:spcAft>
            </a:pPr>
            <a:r>
              <a:rPr sz="950" b="1">
                <a:solidFill>
                  <a:srgbClr val="1E293B"/>
                </a:solidFill>
                <a:latin typeface="Arial"/>
              </a:rPr>
              <a:t>• Optimizer:</a:t>
            </a:r>
            <a:r>
              <a:rPr sz="950">
                <a:solidFill>
                  <a:srgbClr val="1E293B"/>
                </a:solidFill>
                <a:latin typeface="Arial"/>
              </a:rPr>
              <a:t> Adam (Adaptive Moment Estimation) with initial learning rate = 0.001.</a:t>
            </a:r>
          </a:p>
          <a:p>
            <a:pPr algn="l">
              <a:spcAft>
                <a:spcPts val="500"/>
              </a:spcAft>
            </a:pPr>
            <a:r>
              <a:rPr sz="950" b="1">
                <a:solidFill>
                  <a:srgbClr val="1E293B"/>
                </a:solidFill>
                <a:latin typeface="Arial"/>
              </a:rPr>
              <a:t>• Loss Function:</a:t>
            </a:r>
            <a:r>
              <a:rPr sz="950">
                <a:solidFill>
                  <a:srgbClr val="1E293B"/>
                </a:solidFill>
                <a:latin typeface="Arial"/>
              </a:rPr>
              <a:t> Sparse Categorical Crossentropy for multi-class optimization.</a:t>
            </a:r>
          </a:p>
          <a:p>
            <a:pPr algn="l">
              <a:spcAft>
                <a:spcPts val="500"/>
              </a:spcAft>
            </a:pPr>
            <a:r>
              <a:rPr sz="950" b="1">
                <a:solidFill>
                  <a:srgbClr val="1E293B"/>
                </a:solidFill>
                <a:latin typeface="Arial"/>
              </a:rPr>
              <a:t>• Dropout Regularization:</a:t>
            </a:r>
            <a:r>
              <a:rPr sz="950">
                <a:solidFill>
                  <a:srgbClr val="1E293B"/>
                </a:solidFill>
                <a:latin typeface="Arial"/>
              </a:rPr>
              <a:t> 20% dropout rate on layers 1 and 2 to eliminate co-adaptation.</a:t>
            </a:r>
          </a:p>
          <a:p>
            <a:pPr algn="l">
              <a:spcAft>
                <a:spcPts val="500"/>
              </a:spcAft>
            </a:pPr>
            <a:r>
              <a:rPr sz="950" b="1">
                <a:solidFill>
                  <a:srgbClr val="1E293B"/>
                </a:solidFill>
                <a:latin typeface="Arial"/>
              </a:rPr>
              <a:t>• Overfitting Prevention:</a:t>
            </a:r>
            <a:r>
              <a:rPr sz="950">
                <a:solidFill>
                  <a:srgbClr val="1E293B"/>
                </a:solidFill>
                <a:latin typeface="Arial"/>
              </a:rPr>
              <a:t> Dropout ensures robust generalization across unseen soil variants.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F1F"/>
          </a:solidFill>
          <a:ln>
            <a:solidFill>
              <a:srgbClr val="0F2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87552"/>
            <a:ext cx="12191695" cy="36576"/>
          </a:xfrm>
          <a:prstGeom prst="rect">
            <a:avLst/>
          </a:prstGeom>
          <a:solidFill>
            <a:srgbClr val="2D752D"/>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377440" cy="256032"/>
          </a:xfrm>
          <a:prstGeom prst="roundRect">
            <a:avLst/>
          </a:prstGeom>
          <a:solidFill>
            <a:srgbClr val="143D28"/>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E6F3E6"/>
                </a:solidFill>
                <a:latin typeface="Arial"/>
              </a:rPr>
              <a:t>EVALUATION &amp; METRICS</a:t>
            </a:r>
          </a:p>
        </p:txBody>
      </p:sp>
      <p:sp>
        <p:nvSpPr>
          <p:cNvPr id="5" name="TextBox 4"/>
          <p:cNvSpPr txBox="1"/>
          <p:nvPr/>
        </p:nvSpPr>
        <p:spPr>
          <a:xfrm>
            <a:off x="685800" y="402336"/>
            <a:ext cx="10515600" cy="548640"/>
          </a:xfrm>
          <a:prstGeom prst="rect">
            <a:avLst/>
          </a:prstGeom>
          <a:noFill/>
        </p:spPr>
        <p:txBody>
          <a:bodyPr wrap="none">
            <a:spAutoFit/>
          </a:bodyPr>
          <a:lstStyle/>
          <a:p>
            <a:r>
              <a:rPr sz="1900" b="1">
                <a:solidFill>
                  <a:srgbClr val="FFFFFF"/>
                </a:solidFill>
                <a:latin typeface="Arial"/>
              </a:rPr>
              <a:t>Model Evaluation &amp; Quantitative Experimental Results</a:t>
            </a:r>
          </a:p>
        </p:txBody>
      </p:sp>
      <p:sp>
        <p:nvSpPr>
          <p:cNvPr id="6" name="Rectangle 5"/>
          <p:cNvSpPr/>
          <p:nvPr/>
        </p:nvSpPr>
        <p:spPr>
          <a:xfrm>
            <a:off x="0" y="6446520"/>
            <a:ext cx="12191695" cy="4114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7315200" cy="320040"/>
          </a:xfrm>
          <a:prstGeom prst="rect">
            <a:avLst/>
          </a:prstGeom>
          <a:noFill/>
        </p:spPr>
        <p:txBody>
          <a:bodyPr wrap="none">
            <a:spAutoFit/>
          </a:bodyPr>
          <a:lstStyle/>
          <a:p>
            <a:r>
              <a:rPr sz="850">
                <a:solidFill>
                  <a:srgbClr val="64748B"/>
                </a:solidFill>
                <a:latin typeface="Arial"/>
              </a:rPr>
              <a:t>AgriSmart AI — Intelligent Crop Recommendation System  |  University Project Demonstration</a:t>
            </a:r>
          </a:p>
        </p:txBody>
      </p:sp>
      <p:sp>
        <p:nvSpPr>
          <p:cNvPr id="8" name="TextBox 7"/>
          <p:cNvSpPr txBox="1"/>
          <p:nvPr/>
        </p:nvSpPr>
        <p:spPr>
          <a:xfrm>
            <a:off x="9601200" y="6473952"/>
            <a:ext cx="1828800" cy="320040"/>
          </a:xfrm>
          <a:prstGeom prst="rect">
            <a:avLst/>
          </a:prstGeom>
          <a:noFill/>
        </p:spPr>
        <p:txBody>
          <a:bodyPr wrap="none">
            <a:spAutoFit/>
          </a:bodyPr>
          <a:lstStyle/>
          <a:p>
            <a:pPr algn="r"/>
            <a:r>
              <a:rPr sz="850" b="1">
                <a:solidFill>
                  <a:srgbClr val="2D752D"/>
                </a:solidFill>
                <a:latin typeface="Arial"/>
              </a:rPr>
              <a:t>Slide 11 of 16</a:t>
            </a:r>
          </a:p>
        </p:txBody>
      </p:sp>
      <p:pic>
        <p:nvPicPr>
          <p:cNvPr id="9" name="Picture 8" descr="model_evaluation_chart.png"/>
          <p:cNvPicPr>
            <a:picLocks noChangeAspect="1"/>
          </p:cNvPicPr>
          <p:nvPr/>
        </p:nvPicPr>
        <p:blipFill>
          <a:blip r:embed="rId2"/>
          <a:stretch>
            <a:fillRect/>
          </a:stretch>
        </p:blipFill>
        <p:spPr>
          <a:xfrm>
            <a:off x="731520" y="1280160"/>
            <a:ext cx="6858000" cy="4846320"/>
          </a:xfrm>
          <a:prstGeom prst="rect">
            <a:avLst/>
          </a:prstGeom>
        </p:spPr>
      </p:pic>
      <p:sp>
        <p:nvSpPr>
          <p:cNvPr id="10" name="Rounded Rectangle 9"/>
          <p:cNvSpPr/>
          <p:nvPr/>
        </p:nvSpPr>
        <p:spPr>
          <a:xfrm>
            <a:off x="7863840" y="1280160"/>
            <a:ext cx="3566160"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Key Evaluation Metrics</a:t>
            </a:r>
          </a:p>
          <a:p>
            <a:pPr algn="l">
              <a:spcAft>
                <a:spcPts val="500"/>
              </a:spcAft>
            </a:pPr>
            <a:r>
              <a:rPr sz="950" b="1">
                <a:solidFill>
                  <a:srgbClr val="1E293B"/>
                </a:solidFill>
                <a:latin typeface="Arial"/>
              </a:rPr>
              <a:t>• Hold-Out Test Set:</a:t>
            </a:r>
            <a:r>
              <a:rPr sz="950">
                <a:solidFill>
                  <a:srgbClr val="1E293B"/>
                </a:solidFill>
                <a:latin typeface="Arial"/>
              </a:rPr>
              <a:t> 440 samples (20 per class, 20% split).</a:t>
            </a:r>
          </a:p>
          <a:p>
            <a:pPr algn="l">
              <a:spcAft>
                <a:spcPts val="500"/>
              </a:spcAft>
            </a:pPr>
            <a:r>
              <a:rPr sz="950" b="1">
                <a:solidFill>
                  <a:srgbClr val="1E293B"/>
                </a:solidFill>
                <a:latin typeface="Arial"/>
              </a:rPr>
              <a:t>• Test Accuracy:</a:t>
            </a:r>
            <a:r>
              <a:rPr sz="950">
                <a:solidFill>
                  <a:srgbClr val="1E293B"/>
                </a:solidFill>
                <a:latin typeface="Arial"/>
              </a:rPr>
              <a:t> 97.50% (429 of 440 predictions exact).</a:t>
            </a:r>
          </a:p>
          <a:p>
            <a:pPr algn="l">
              <a:spcAft>
                <a:spcPts val="500"/>
              </a:spcAft>
            </a:pPr>
            <a:r>
              <a:rPr sz="950" b="1">
                <a:solidFill>
                  <a:srgbClr val="1E293B"/>
                </a:solidFill>
                <a:latin typeface="Arial"/>
              </a:rPr>
              <a:t>• Test Cross-Entropy Loss:</a:t>
            </a:r>
            <a:r>
              <a:rPr sz="950">
                <a:solidFill>
                  <a:srgbClr val="1E293B"/>
                </a:solidFill>
                <a:latin typeface="Arial"/>
              </a:rPr>
              <a:t> 0.0563.</a:t>
            </a:r>
          </a:p>
          <a:p>
            <a:pPr algn="l">
              <a:spcAft>
                <a:spcPts val="500"/>
              </a:spcAft>
            </a:pPr>
            <a:r>
              <a:rPr sz="950" b="1">
                <a:solidFill>
                  <a:srgbClr val="1E293B"/>
                </a:solidFill>
                <a:latin typeface="Arial"/>
              </a:rPr>
              <a:t>• Macro Precision:</a:t>
            </a:r>
            <a:r>
              <a:rPr sz="950">
                <a:solidFill>
                  <a:srgbClr val="1E293B"/>
                </a:solidFill>
                <a:latin typeface="Arial"/>
              </a:rPr>
              <a:t> 0.98 | Macro Recall: 0.97 | Macro F1: 0.97.</a:t>
            </a:r>
          </a:p>
          <a:p>
            <a:pPr algn="l">
              <a:spcAft>
                <a:spcPts val="500"/>
              </a:spcAft>
            </a:pPr>
            <a:r>
              <a:rPr sz="950" b="1">
                <a:solidFill>
                  <a:srgbClr val="1E293B"/>
                </a:solidFill>
                <a:latin typeface="Arial"/>
              </a:rPr>
              <a:t>• Weighted Precision:</a:t>
            </a:r>
            <a:r>
              <a:rPr sz="950">
                <a:solidFill>
                  <a:srgbClr val="1E293B"/>
                </a:solidFill>
                <a:latin typeface="Arial"/>
              </a:rPr>
              <a:t> 0.98 | Weighted Recall: 0.97 | Weighted F1: 0.97.</a:t>
            </a:r>
          </a:p>
          <a:p>
            <a:pPr algn="l">
              <a:spcAft>
                <a:spcPts val="500"/>
              </a:spcAft>
            </a:pPr>
            <a:r>
              <a:rPr sz="950" b="1">
                <a:solidFill>
                  <a:srgbClr val="1E293B"/>
                </a:solidFill>
                <a:latin typeface="Arial"/>
              </a:rPr>
              <a:t>• 16 Crops with 100% F1:</a:t>
            </a:r>
            <a:r>
              <a:rPr sz="950">
                <a:solidFill>
                  <a:srgbClr val="1E293B"/>
                </a:solidFill>
                <a:latin typeface="Arial"/>
              </a:rPr>
              <a:t> Apple, Banana, Chickpea, Coconut, Coffee, Cotton, Grapes, Kidney Beans, Maize, Mango, Mung Bean, Muskmelon, Orange, Papaya, Pomegranate, Watermelon.</a:t>
            </a:r>
          </a:p>
          <a:p>
            <a:pPr algn="l">
              <a:spcAft>
                <a:spcPts val="500"/>
              </a:spcAft>
            </a:pPr>
            <a:r>
              <a:rPr sz="950" b="1">
                <a:solidFill>
                  <a:srgbClr val="1E293B"/>
                </a:solidFill>
                <a:latin typeface="Arial"/>
              </a:rPr>
              <a:t>• Minor Biochemical Overlap:</a:t>
            </a:r>
            <a:r>
              <a:rPr sz="950">
                <a:solidFill>
                  <a:srgbClr val="1E293B"/>
                </a:solidFill>
                <a:latin typeface="Arial"/>
              </a:rPr>
              <a:t> Jute (0.88 F1) vs Rice (0.86 F1) due to closely shared monsoon precipitation patterns.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F1F"/>
          </a:solidFill>
          <a:ln>
            <a:solidFill>
              <a:srgbClr val="0F2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87552"/>
            <a:ext cx="12191695" cy="36576"/>
          </a:xfrm>
          <a:prstGeom prst="rect">
            <a:avLst/>
          </a:prstGeom>
          <a:solidFill>
            <a:srgbClr val="2D752D"/>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377440" cy="256032"/>
          </a:xfrm>
          <a:prstGeom prst="roundRect">
            <a:avLst/>
          </a:prstGeom>
          <a:solidFill>
            <a:srgbClr val="143D28"/>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E6F3E6"/>
                </a:solidFill>
                <a:latin typeface="Arial"/>
              </a:rPr>
              <a:t>SOFTWARE ENGINEERING</a:t>
            </a:r>
          </a:p>
        </p:txBody>
      </p:sp>
      <p:sp>
        <p:nvSpPr>
          <p:cNvPr id="5" name="TextBox 4"/>
          <p:cNvSpPr txBox="1"/>
          <p:nvPr/>
        </p:nvSpPr>
        <p:spPr>
          <a:xfrm>
            <a:off x="685800" y="402336"/>
            <a:ext cx="10515600" cy="548640"/>
          </a:xfrm>
          <a:prstGeom prst="rect">
            <a:avLst/>
          </a:prstGeom>
          <a:noFill/>
        </p:spPr>
        <p:txBody>
          <a:bodyPr wrap="none">
            <a:spAutoFit/>
          </a:bodyPr>
          <a:lstStyle/>
          <a:p>
            <a:r>
              <a:rPr sz="1900" b="1">
                <a:solidFill>
                  <a:srgbClr val="FFFFFF"/>
                </a:solidFill>
                <a:latin typeface="Arial"/>
              </a:rPr>
              <a:t>AgriSmart AI Web Application Modules</a:t>
            </a:r>
          </a:p>
        </p:txBody>
      </p:sp>
      <p:sp>
        <p:nvSpPr>
          <p:cNvPr id="6" name="Rectangle 5"/>
          <p:cNvSpPr/>
          <p:nvPr/>
        </p:nvSpPr>
        <p:spPr>
          <a:xfrm>
            <a:off x="0" y="6446520"/>
            <a:ext cx="12191695" cy="4114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7315200" cy="320040"/>
          </a:xfrm>
          <a:prstGeom prst="rect">
            <a:avLst/>
          </a:prstGeom>
          <a:noFill/>
        </p:spPr>
        <p:txBody>
          <a:bodyPr wrap="none">
            <a:spAutoFit/>
          </a:bodyPr>
          <a:lstStyle/>
          <a:p>
            <a:r>
              <a:rPr sz="850">
                <a:solidFill>
                  <a:srgbClr val="64748B"/>
                </a:solidFill>
                <a:latin typeface="Arial"/>
              </a:rPr>
              <a:t>AgriSmart AI — Intelligent Crop Recommendation System  |  University Project Demonstration</a:t>
            </a:r>
          </a:p>
        </p:txBody>
      </p:sp>
      <p:sp>
        <p:nvSpPr>
          <p:cNvPr id="8" name="TextBox 7"/>
          <p:cNvSpPr txBox="1"/>
          <p:nvPr/>
        </p:nvSpPr>
        <p:spPr>
          <a:xfrm>
            <a:off x="9601200" y="6473952"/>
            <a:ext cx="1828800" cy="320040"/>
          </a:xfrm>
          <a:prstGeom prst="rect">
            <a:avLst/>
          </a:prstGeom>
          <a:noFill/>
        </p:spPr>
        <p:txBody>
          <a:bodyPr wrap="none">
            <a:spAutoFit/>
          </a:bodyPr>
          <a:lstStyle/>
          <a:p>
            <a:pPr algn="r"/>
            <a:r>
              <a:rPr sz="850" b="1">
                <a:solidFill>
                  <a:srgbClr val="2D752D"/>
                </a:solidFill>
                <a:latin typeface="Arial"/>
              </a:rPr>
              <a:t>Slide 12 of 16</a:t>
            </a:r>
          </a:p>
        </p:txBody>
      </p:sp>
      <p:sp>
        <p:nvSpPr>
          <p:cNvPr id="9" name="Rounded Rectangle 8"/>
          <p:cNvSpPr/>
          <p:nvPr/>
        </p:nvSpPr>
        <p:spPr>
          <a:xfrm>
            <a:off x="731520" y="1280160"/>
            <a:ext cx="521208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1. Overview &amp; Landing</a:t>
            </a:r>
          </a:p>
          <a:p>
            <a:pPr algn="l">
              <a:spcAft>
                <a:spcPts val="500"/>
              </a:spcAft>
            </a:pPr>
            <a:r>
              <a:rPr sz="950">
                <a:solidFill>
                  <a:srgbClr val="1E293B"/>
                </a:solidFill>
                <a:latin typeface="Arial"/>
              </a:rPr>
              <a:t>• Hero banner with agricultural mission.</a:t>
            </a:r>
          </a:p>
          <a:p>
            <a:pPr algn="l">
              <a:spcAft>
                <a:spcPts val="500"/>
              </a:spcAft>
            </a:pPr>
            <a:r>
              <a:rPr sz="950">
                <a:solidFill>
                  <a:srgbClr val="1E293B"/>
                </a:solidFill>
                <a:latin typeface="Arial"/>
              </a:rPr>
              <a:t>• Real-time model KPI badges (97.5% Acc).</a:t>
            </a:r>
          </a:p>
          <a:p>
            <a:pPr algn="l">
              <a:spcAft>
                <a:spcPts val="500"/>
              </a:spcAft>
            </a:pPr>
            <a:r>
              <a:rPr sz="950">
                <a:solidFill>
                  <a:srgbClr val="1E293B"/>
                </a:solidFill>
                <a:latin typeface="Arial"/>
              </a:rPr>
              <a:t>• Three-step visual workflow explanation.</a:t>
            </a:r>
          </a:p>
          <a:p>
            <a:pPr algn="l">
              <a:spcAft>
                <a:spcPts val="500"/>
              </a:spcAft>
            </a:pPr>
            <a:r>
              <a:rPr sz="950">
                <a:solidFill>
                  <a:srgbClr val="1E293B"/>
                </a:solidFill>
                <a:latin typeface="Arial"/>
              </a:rPr>
              <a:t>• Quick 1-click sample profile selectors.</a:t>
            </a:r>
          </a:p>
        </p:txBody>
      </p:sp>
      <p:sp>
        <p:nvSpPr>
          <p:cNvPr id="10" name="Rounded Rectangle 9"/>
          <p:cNvSpPr/>
          <p:nvPr/>
        </p:nvSpPr>
        <p:spPr>
          <a:xfrm>
            <a:off x="6217920" y="1280160"/>
            <a:ext cx="521208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2. Recommendation Dashboard</a:t>
            </a:r>
          </a:p>
          <a:p>
            <a:pPr algn="l">
              <a:spcAft>
                <a:spcPts val="500"/>
              </a:spcAft>
            </a:pPr>
            <a:r>
              <a:rPr sz="950">
                <a:solidFill>
                  <a:srgbClr val="1E293B"/>
                </a:solidFill>
                <a:latin typeface="Arial"/>
              </a:rPr>
              <a:t>• 7 dedicated agronomic input controls.</a:t>
            </a:r>
          </a:p>
          <a:p>
            <a:pPr algn="l">
              <a:spcAft>
                <a:spcPts val="500"/>
              </a:spcAft>
            </a:pPr>
            <a:r>
              <a:rPr sz="950">
                <a:solidFill>
                  <a:srgbClr val="1E293B"/>
                </a:solidFill>
                <a:latin typeface="Arial"/>
              </a:rPr>
              <a:t>• Synchronized numeric input and range sliders.</a:t>
            </a:r>
          </a:p>
          <a:p>
            <a:pPr algn="l">
              <a:spcAft>
                <a:spcPts val="500"/>
              </a:spcAft>
            </a:pPr>
            <a:r>
              <a:rPr sz="950">
                <a:solidFill>
                  <a:srgbClr val="1E293B"/>
                </a:solidFill>
                <a:latin typeface="Arial"/>
              </a:rPr>
              <a:t>• Informative agronomic tooltips with typical bounds.</a:t>
            </a:r>
          </a:p>
          <a:p>
            <a:pPr algn="l">
              <a:spcAft>
                <a:spcPts val="500"/>
              </a:spcAft>
            </a:pPr>
            <a:r>
              <a:rPr sz="950">
                <a:solidFill>
                  <a:srgbClr val="1E293B"/>
                </a:solidFill>
                <a:latin typeface="Arial"/>
              </a:rPr>
              <a:t>• Preset loader (Rice, Maize, Coffee, Chickpea).</a:t>
            </a:r>
          </a:p>
        </p:txBody>
      </p:sp>
      <p:sp>
        <p:nvSpPr>
          <p:cNvPr id="11" name="Rounded Rectangle 10"/>
          <p:cNvSpPr/>
          <p:nvPr/>
        </p:nvSpPr>
        <p:spPr>
          <a:xfrm>
            <a:off x="731520" y="3840480"/>
            <a:ext cx="521208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3. Prediction Result Engine</a:t>
            </a:r>
          </a:p>
          <a:p>
            <a:pPr algn="l">
              <a:spcAft>
                <a:spcPts val="500"/>
              </a:spcAft>
            </a:pPr>
            <a:r>
              <a:rPr sz="950">
                <a:solidFill>
                  <a:srgbClr val="1E293B"/>
                </a:solidFill>
                <a:latin typeface="Arial"/>
              </a:rPr>
              <a:t>• Primary crop banner and botanical name.</a:t>
            </a:r>
          </a:p>
          <a:p>
            <a:pPr algn="l">
              <a:spcAft>
                <a:spcPts val="500"/>
              </a:spcAft>
            </a:pPr>
            <a:r>
              <a:rPr sz="950">
                <a:solidFill>
                  <a:srgbClr val="1E293B"/>
                </a:solidFill>
                <a:latin typeface="Arial"/>
              </a:rPr>
              <a:t>• Softmax confidence percentage progress gauge.</a:t>
            </a:r>
          </a:p>
          <a:p>
            <a:pPr algn="l">
              <a:spcAft>
                <a:spcPts val="500"/>
              </a:spcAft>
            </a:pPr>
            <a:r>
              <a:rPr sz="950">
                <a:solidFill>
                  <a:srgbClr val="1E293B"/>
                </a:solidFill>
                <a:latin typeface="Arial"/>
              </a:rPr>
              <a:t>• Ranked top-3 alternative crop suggestions.</a:t>
            </a:r>
          </a:p>
          <a:p>
            <a:pPr algn="l">
              <a:spcAft>
                <a:spcPts val="500"/>
              </a:spcAft>
            </a:pPr>
            <a:r>
              <a:rPr sz="950" b="1">
                <a:solidFill>
                  <a:srgbClr val="1E293B"/>
                </a:solidFill>
                <a:latin typeface="Arial"/>
              </a:rPr>
              <a:t>• Agronomic guide:</a:t>
            </a:r>
            <a:r>
              <a:rPr sz="950">
                <a:solidFill>
                  <a:srgbClr val="1E293B"/>
                </a:solidFill>
                <a:latin typeface="Arial"/>
              </a:rPr>
              <a:t> season, harvest, soil, water.</a:t>
            </a:r>
          </a:p>
        </p:txBody>
      </p:sp>
      <p:sp>
        <p:nvSpPr>
          <p:cNvPr id="12" name="Rounded Rectangle 11"/>
          <p:cNvSpPr/>
          <p:nvPr/>
        </p:nvSpPr>
        <p:spPr>
          <a:xfrm>
            <a:off x="6217920" y="3840480"/>
            <a:ext cx="521208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4. Analytics &amp; History Store</a:t>
            </a:r>
          </a:p>
          <a:p>
            <a:pPr algn="l">
              <a:spcAft>
                <a:spcPts val="500"/>
              </a:spcAft>
            </a:pPr>
            <a:r>
              <a:rPr sz="950">
                <a:solidFill>
                  <a:srgbClr val="1E293B"/>
                </a:solidFill>
                <a:latin typeface="Arial"/>
              </a:rPr>
              <a:t>• Full 22-class distribution chart (balanced).</a:t>
            </a:r>
          </a:p>
          <a:p>
            <a:pPr algn="l">
              <a:spcAft>
                <a:spcPts val="500"/>
              </a:spcAft>
            </a:pPr>
            <a:r>
              <a:rPr sz="950">
                <a:solidFill>
                  <a:srgbClr val="1E293B"/>
                </a:solidFill>
                <a:latin typeface="Arial"/>
              </a:rPr>
              <a:t>• NPK vs Climate interactive comparison charts.</a:t>
            </a:r>
          </a:p>
          <a:p>
            <a:pPr algn="l">
              <a:spcAft>
                <a:spcPts val="500"/>
              </a:spcAft>
            </a:pPr>
            <a:r>
              <a:rPr sz="950">
                <a:solidFill>
                  <a:srgbClr val="1E293B"/>
                </a:solidFill>
                <a:latin typeface="Arial"/>
              </a:rPr>
              <a:t>• Crop-wise parameter reference benchmark table.</a:t>
            </a:r>
          </a:p>
          <a:p>
            <a:pPr algn="l">
              <a:spcAft>
                <a:spcPts val="500"/>
              </a:spcAft>
            </a:pPr>
            <a:r>
              <a:rPr sz="950">
                <a:solidFill>
                  <a:srgbClr val="1E293B"/>
                </a:solidFill>
                <a:latin typeface="Arial"/>
              </a:rPr>
              <a:t>• Persisted history log with 1-click parameter reload.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F1F"/>
          </a:solidFill>
          <a:ln>
            <a:solidFill>
              <a:srgbClr val="0F2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87552"/>
            <a:ext cx="12191695" cy="36576"/>
          </a:xfrm>
          <a:prstGeom prst="rect">
            <a:avLst/>
          </a:prstGeom>
          <a:solidFill>
            <a:srgbClr val="2D752D"/>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377440" cy="256032"/>
          </a:xfrm>
          <a:prstGeom prst="roundRect">
            <a:avLst/>
          </a:prstGeom>
          <a:solidFill>
            <a:srgbClr val="143D28"/>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E6F3E6"/>
                </a:solidFill>
                <a:latin typeface="Arial"/>
              </a:rPr>
              <a:t>USER INTERFACE</a:t>
            </a:r>
          </a:p>
        </p:txBody>
      </p:sp>
      <p:sp>
        <p:nvSpPr>
          <p:cNvPr id="5" name="TextBox 4"/>
          <p:cNvSpPr txBox="1"/>
          <p:nvPr/>
        </p:nvSpPr>
        <p:spPr>
          <a:xfrm>
            <a:off x="685800" y="402336"/>
            <a:ext cx="10515600" cy="548640"/>
          </a:xfrm>
          <a:prstGeom prst="rect">
            <a:avLst/>
          </a:prstGeom>
          <a:noFill/>
        </p:spPr>
        <p:txBody>
          <a:bodyPr wrap="none">
            <a:spAutoFit/>
          </a:bodyPr>
          <a:lstStyle/>
          <a:p>
            <a:r>
              <a:rPr sz="1900" b="1">
                <a:solidFill>
                  <a:srgbClr val="FFFFFF"/>
                </a:solidFill>
                <a:latin typeface="Arial"/>
              </a:rPr>
              <a:t>Live Application Screenshots: Interface in Action</a:t>
            </a:r>
          </a:p>
        </p:txBody>
      </p:sp>
      <p:sp>
        <p:nvSpPr>
          <p:cNvPr id="6" name="Rectangle 5"/>
          <p:cNvSpPr/>
          <p:nvPr/>
        </p:nvSpPr>
        <p:spPr>
          <a:xfrm>
            <a:off x="0" y="6446520"/>
            <a:ext cx="12191695" cy="4114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7315200" cy="320040"/>
          </a:xfrm>
          <a:prstGeom prst="rect">
            <a:avLst/>
          </a:prstGeom>
          <a:noFill/>
        </p:spPr>
        <p:txBody>
          <a:bodyPr wrap="none">
            <a:spAutoFit/>
          </a:bodyPr>
          <a:lstStyle/>
          <a:p>
            <a:r>
              <a:rPr sz="850">
                <a:solidFill>
                  <a:srgbClr val="64748B"/>
                </a:solidFill>
                <a:latin typeface="Arial"/>
              </a:rPr>
              <a:t>AgriSmart AI — Intelligent Crop Recommendation System  |  University Project Demonstration</a:t>
            </a:r>
          </a:p>
        </p:txBody>
      </p:sp>
      <p:sp>
        <p:nvSpPr>
          <p:cNvPr id="8" name="TextBox 7"/>
          <p:cNvSpPr txBox="1"/>
          <p:nvPr/>
        </p:nvSpPr>
        <p:spPr>
          <a:xfrm>
            <a:off x="9601200" y="6473952"/>
            <a:ext cx="1828800" cy="320040"/>
          </a:xfrm>
          <a:prstGeom prst="rect">
            <a:avLst/>
          </a:prstGeom>
          <a:noFill/>
        </p:spPr>
        <p:txBody>
          <a:bodyPr wrap="none">
            <a:spAutoFit/>
          </a:bodyPr>
          <a:lstStyle/>
          <a:p>
            <a:pPr algn="r"/>
            <a:r>
              <a:rPr sz="850" b="1">
                <a:solidFill>
                  <a:srgbClr val="2D752D"/>
                </a:solidFill>
                <a:latin typeface="Arial"/>
              </a:rPr>
              <a:t>Slide 13 of 16</a:t>
            </a:r>
          </a:p>
        </p:txBody>
      </p:sp>
      <p:pic>
        <p:nvPicPr>
          <p:cNvPr id="9" name="Picture 8" descr="02_recommendation_form.png"/>
          <p:cNvPicPr>
            <a:picLocks noChangeAspect="1"/>
          </p:cNvPicPr>
          <p:nvPr/>
        </p:nvPicPr>
        <p:blipFill>
          <a:blip r:embed="rId2"/>
          <a:stretch>
            <a:fillRect/>
          </a:stretch>
        </p:blipFill>
        <p:spPr>
          <a:xfrm>
            <a:off x="731520" y="1280160"/>
            <a:ext cx="5212080" cy="3291840"/>
          </a:xfrm>
          <a:prstGeom prst="rect">
            <a:avLst/>
          </a:prstGeom>
        </p:spPr>
      </p:pic>
      <p:sp>
        <p:nvSpPr>
          <p:cNvPr id="10" name="TextBox 9"/>
          <p:cNvSpPr txBox="1"/>
          <p:nvPr/>
        </p:nvSpPr>
        <p:spPr>
          <a:xfrm>
            <a:off x="731520" y="4617720"/>
            <a:ext cx="5212080" cy="365760"/>
          </a:xfrm>
          <a:prstGeom prst="rect">
            <a:avLst/>
          </a:prstGeom>
          <a:noFill/>
        </p:spPr>
        <p:txBody>
          <a:bodyPr wrap="none">
            <a:spAutoFit/>
          </a:bodyPr>
          <a:lstStyle/>
          <a:p>
            <a:pPr algn="ctr"/>
            <a:r>
              <a:rPr sz="850" b="1">
                <a:solidFill>
                  <a:srgbClr val="2D752D"/>
                </a:solidFill>
                <a:latin typeface="Arial"/>
              </a:rPr>
              <a:t>Screen A: Recommendation Form with 7 Synchronized Numeric Sliders</a:t>
            </a:r>
          </a:p>
        </p:txBody>
      </p:sp>
      <p:pic>
        <p:nvPicPr>
          <p:cNvPr id="11" name="Picture 10" descr="03_prediction_result.png"/>
          <p:cNvPicPr>
            <a:picLocks noChangeAspect="1"/>
          </p:cNvPicPr>
          <p:nvPr/>
        </p:nvPicPr>
        <p:blipFill>
          <a:blip r:embed="rId3"/>
          <a:stretch>
            <a:fillRect/>
          </a:stretch>
        </p:blipFill>
        <p:spPr>
          <a:xfrm>
            <a:off x="6217920" y="1280160"/>
            <a:ext cx="5212080" cy="3291840"/>
          </a:xfrm>
          <a:prstGeom prst="rect">
            <a:avLst/>
          </a:prstGeom>
        </p:spPr>
      </p:pic>
      <p:sp>
        <p:nvSpPr>
          <p:cNvPr id="12" name="TextBox 11"/>
          <p:cNvSpPr txBox="1"/>
          <p:nvPr/>
        </p:nvSpPr>
        <p:spPr>
          <a:xfrm>
            <a:off x="6217920" y="4617720"/>
            <a:ext cx="5212080" cy="365760"/>
          </a:xfrm>
          <a:prstGeom prst="rect">
            <a:avLst/>
          </a:prstGeom>
          <a:noFill/>
        </p:spPr>
        <p:txBody>
          <a:bodyPr wrap="none">
            <a:spAutoFit/>
          </a:bodyPr>
          <a:lstStyle/>
          <a:p>
            <a:pPr algn="ctr"/>
            <a:r>
              <a:rPr sz="850" b="1">
                <a:solidFill>
                  <a:srgbClr val="2D752D"/>
                </a:solidFill>
                <a:latin typeface="Arial"/>
              </a:rPr>
              <a:t>Screen B: Real-Time Prediction Output, Top-3 Ranking &amp; Agronomic Advisory</a:t>
            </a:r>
          </a:p>
        </p:txBody>
      </p:sp>
      <p:sp>
        <p:nvSpPr>
          <p:cNvPr id="13" name="Rounded Rectangle 12"/>
          <p:cNvSpPr/>
          <p:nvPr/>
        </p:nvSpPr>
        <p:spPr>
          <a:xfrm>
            <a:off x="731520" y="5029200"/>
            <a:ext cx="10728655" cy="11887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Demonstrated Features in Live Screens</a:t>
            </a:r>
          </a:p>
          <a:p>
            <a:pPr algn="l">
              <a:spcAft>
                <a:spcPts val="500"/>
              </a:spcAft>
            </a:pPr>
            <a:r>
              <a:rPr sz="950" b="1">
                <a:solidFill>
                  <a:srgbClr val="1E293B"/>
                </a:solidFill>
                <a:latin typeface="Arial"/>
              </a:rPr>
              <a:t>• Dual-Control Input Synchronization:</a:t>
            </a:r>
            <a:r>
              <a:rPr sz="950">
                <a:solidFill>
                  <a:srgbClr val="1E293B"/>
                </a:solidFill>
                <a:latin typeface="Arial"/>
              </a:rPr>
              <a:t> Users can drag sliders for rapid tactile exploration or type exact laboratory numbers.</a:t>
            </a:r>
          </a:p>
          <a:p>
            <a:pPr algn="l">
              <a:spcAft>
                <a:spcPts val="500"/>
              </a:spcAft>
            </a:pPr>
            <a:r>
              <a:rPr sz="950" b="1">
                <a:solidFill>
                  <a:srgbClr val="1E293B"/>
                </a:solidFill>
                <a:latin typeface="Arial"/>
              </a:rPr>
              <a:t>• Instant Neural Inference:</a:t>
            </a:r>
            <a:r>
              <a:rPr sz="950">
                <a:solidFill>
                  <a:srgbClr val="1E293B"/>
                </a:solidFill>
                <a:latin typeface="Arial"/>
              </a:rPr>
              <a:t> Predicts recommended crop in under 15ms; returns confidence gauge, top-3 ranked alternatives, and comprehensive agronomic guide.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F1F"/>
          </a:solidFill>
          <a:ln>
            <a:solidFill>
              <a:srgbClr val="0F2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87552"/>
            <a:ext cx="12191695" cy="36576"/>
          </a:xfrm>
          <a:prstGeom prst="rect">
            <a:avLst/>
          </a:prstGeom>
          <a:solidFill>
            <a:srgbClr val="2D752D"/>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377440" cy="256032"/>
          </a:xfrm>
          <a:prstGeom prst="roundRect">
            <a:avLst/>
          </a:prstGeom>
          <a:solidFill>
            <a:srgbClr val="143D28"/>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E6F3E6"/>
                </a:solidFill>
                <a:latin typeface="Arial"/>
              </a:rPr>
              <a:t>CRITICAL ANALYSIS</a:t>
            </a:r>
          </a:p>
        </p:txBody>
      </p:sp>
      <p:sp>
        <p:nvSpPr>
          <p:cNvPr id="5" name="TextBox 4"/>
          <p:cNvSpPr txBox="1"/>
          <p:nvPr/>
        </p:nvSpPr>
        <p:spPr>
          <a:xfrm>
            <a:off x="685800" y="402336"/>
            <a:ext cx="10515600" cy="548640"/>
          </a:xfrm>
          <a:prstGeom prst="rect">
            <a:avLst/>
          </a:prstGeom>
          <a:noFill/>
        </p:spPr>
        <p:txBody>
          <a:bodyPr wrap="none">
            <a:spAutoFit/>
          </a:bodyPr>
          <a:lstStyle/>
          <a:p>
            <a:r>
              <a:rPr sz="1900" b="1">
                <a:solidFill>
                  <a:srgbClr val="FFFFFF"/>
                </a:solidFill>
                <a:latin typeface="Arial"/>
              </a:rPr>
              <a:t>System Limitations &amp; Future Enhancements</a:t>
            </a:r>
          </a:p>
        </p:txBody>
      </p:sp>
      <p:sp>
        <p:nvSpPr>
          <p:cNvPr id="6" name="Rectangle 5"/>
          <p:cNvSpPr/>
          <p:nvPr/>
        </p:nvSpPr>
        <p:spPr>
          <a:xfrm>
            <a:off x="0" y="6446520"/>
            <a:ext cx="12191695" cy="4114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7315200" cy="320040"/>
          </a:xfrm>
          <a:prstGeom prst="rect">
            <a:avLst/>
          </a:prstGeom>
          <a:noFill/>
        </p:spPr>
        <p:txBody>
          <a:bodyPr wrap="none">
            <a:spAutoFit/>
          </a:bodyPr>
          <a:lstStyle/>
          <a:p>
            <a:r>
              <a:rPr sz="850">
                <a:solidFill>
                  <a:srgbClr val="64748B"/>
                </a:solidFill>
                <a:latin typeface="Arial"/>
              </a:rPr>
              <a:t>AgriSmart AI — Intelligent Crop Recommendation System  |  University Project Demonstration</a:t>
            </a:r>
          </a:p>
        </p:txBody>
      </p:sp>
      <p:sp>
        <p:nvSpPr>
          <p:cNvPr id="8" name="TextBox 7"/>
          <p:cNvSpPr txBox="1"/>
          <p:nvPr/>
        </p:nvSpPr>
        <p:spPr>
          <a:xfrm>
            <a:off x="9601200" y="6473952"/>
            <a:ext cx="1828800" cy="320040"/>
          </a:xfrm>
          <a:prstGeom prst="rect">
            <a:avLst/>
          </a:prstGeom>
          <a:noFill/>
        </p:spPr>
        <p:txBody>
          <a:bodyPr wrap="none">
            <a:spAutoFit/>
          </a:bodyPr>
          <a:lstStyle/>
          <a:p>
            <a:pPr algn="r"/>
            <a:r>
              <a:rPr sz="850" b="1">
                <a:solidFill>
                  <a:srgbClr val="2D752D"/>
                </a:solidFill>
                <a:latin typeface="Arial"/>
              </a:rPr>
              <a:t>Slide 14 of 16</a:t>
            </a:r>
          </a:p>
        </p:txBody>
      </p:sp>
      <p:sp>
        <p:nvSpPr>
          <p:cNvPr id="9" name="Rounded Rectangle 8"/>
          <p:cNvSpPr/>
          <p:nvPr/>
        </p:nvSpPr>
        <p:spPr>
          <a:xfrm>
            <a:off x="731520" y="1280160"/>
            <a:ext cx="5120640" cy="484632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Acknowledged System Limitations</a:t>
            </a:r>
          </a:p>
          <a:p>
            <a:pPr algn="l">
              <a:spcAft>
                <a:spcPts val="500"/>
              </a:spcAft>
            </a:pPr>
            <a:r>
              <a:rPr sz="950" b="1">
                <a:solidFill>
                  <a:srgbClr val="1E293B"/>
                </a:solidFill>
                <a:latin typeface="Arial"/>
              </a:rPr>
              <a:t>• Probabilistic Estimation:</a:t>
            </a:r>
            <a:r>
              <a:rPr sz="950">
                <a:solidFill>
                  <a:srgbClr val="1E293B"/>
                </a:solidFill>
                <a:latin typeface="Arial"/>
              </a:rPr>
              <a:t> Model confidence reflects statistical correlation with historical training distributions, not a biological guarantee of harvest yield.</a:t>
            </a:r>
          </a:p>
          <a:p>
            <a:pPr algn="l">
              <a:spcAft>
                <a:spcPts val="500"/>
              </a:spcAft>
            </a:pPr>
            <a:r>
              <a:rPr sz="950" b="1">
                <a:solidFill>
                  <a:srgbClr val="1E293B"/>
                </a:solidFill>
                <a:latin typeface="Arial"/>
              </a:rPr>
              <a:t>• Unmodeled Soil Factors:</a:t>
            </a:r>
            <a:r>
              <a:rPr sz="950">
                <a:solidFill>
                  <a:srgbClr val="1E293B"/>
                </a:solidFill>
                <a:latin typeface="Arial"/>
              </a:rPr>
              <a:t> Current inputs exclude secondary micronutrients (Zinc, Iron, Boron, Copper), electrical conductivity (salinity), and organic matter.</a:t>
            </a:r>
          </a:p>
          <a:p>
            <a:pPr algn="l">
              <a:spcAft>
                <a:spcPts val="500"/>
              </a:spcAft>
            </a:pPr>
            <a:r>
              <a:rPr sz="950" b="1">
                <a:solidFill>
                  <a:srgbClr val="1E293B"/>
                </a:solidFill>
                <a:latin typeface="Arial"/>
              </a:rPr>
              <a:t>• Dynamic Biological Pressures:</a:t>
            </a:r>
            <a:r>
              <a:rPr sz="950">
                <a:solidFill>
                  <a:srgbClr val="1E293B"/>
                </a:solidFill>
                <a:latin typeface="Arial"/>
              </a:rPr>
              <a:t> External biological shocks such as pest infestations, viral blights, and weed competition fall outside the feature scope.</a:t>
            </a:r>
          </a:p>
          <a:p>
            <a:pPr algn="l">
              <a:spcAft>
                <a:spcPts val="500"/>
              </a:spcAft>
            </a:pPr>
            <a:r>
              <a:rPr sz="950" b="1">
                <a:solidFill>
                  <a:srgbClr val="1E293B"/>
                </a:solidFill>
                <a:latin typeface="Arial"/>
              </a:rPr>
              <a:t>• Economic Invariance:</a:t>
            </a:r>
            <a:r>
              <a:rPr sz="950">
                <a:solidFill>
                  <a:srgbClr val="1E293B"/>
                </a:solidFill>
                <a:latin typeface="Arial"/>
              </a:rPr>
              <a:t> The system evaluates agronomic suitability regardless of fluctuating market prices, cold storage access, or local transportation logistics.</a:t>
            </a:r>
          </a:p>
        </p:txBody>
      </p:sp>
      <p:sp>
        <p:nvSpPr>
          <p:cNvPr id="10" name="Rounded Rectangle 9"/>
          <p:cNvSpPr/>
          <p:nvPr/>
        </p:nvSpPr>
        <p:spPr>
          <a:xfrm>
            <a:off x="6217920" y="1280160"/>
            <a:ext cx="5212080" cy="4846320"/>
          </a:xfrm>
          <a:prstGeom prst="roundRect">
            <a:avLst/>
          </a:prstGeom>
          <a:solidFill>
            <a:srgbClr val="FFFFFF"/>
          </a:solidFill>
          <a:ln w="19050">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Future Research &amp; Engineering Scope</a:t>
            </a:r>
          </a:p>
          <a:p>
            <a:pPr algn="l">
              <a:spcAft>
                <a:spcPts val="500"/>
              </a:spcAft>
            </a:pPr>
            <a:r>
              <a:rPr sz="950" b="1">
                <a:solidFill>
                  <a:srgbClr val="1E293B"/>
                </a:solidFill>
                <a:latin typeface="Arial"/>
              </a:rPr>
              <a:t>• IoT Sensor Telemetry:</a:t>
            </a:r>
            <a:r>
              <a:rPr sz="950">
                <a:solidFill>
                  <a:srgbClr val="1E293B"/>
                </a:solidFill>
                <a:latin typeface="Arial"/>
              </a:rPr>
              <a:t> Direct hardware interfacing with field microcontroller probes (ESP32 / LoRaWAN) for automated soil NPK telemetry.</a:t>
            </a:r>
          </a:p>
          <a:p>
            <a:pPr algn="l">
              <a:spcAft>
                <a:spcPts val="500"/>
              </a:spcAft>
            </a:pPr>
            <a:r>
              <a:rPr sz="950" b="1">
                <a:solidFill>
                  <a:srgbClr val="1E293B"/>
                </a:solidFill>
                <a:latin typeface="Arial"/>
              </a:rPr>
              <a:t>• Satellite Remote Sensing:</a:t>
            </a:r>
            <a:r>
              <a:rPr sz="950">
                <a:solidFill>
                  <a:srgbClr val="1E293B"/>
                </a:solidFill>
                <a:latin typeface="Arial"/>
              </a:rPr>
              <a:t> Integration of Sentinel-2 multi-spectral imagery to compute Normalized Difference Vegetation Index (NDVI).</a:t>
            </a:r>
          </a:p>
          <a:p>
            <a:pPr algn="l">
              <a:spcAft>
                <a:spcPts val="500"/>
              </a:spcAft>
            </a:pPr>
            <a:r>
              <a:rPr sz="950" b="1">
                <a:solidFill>
                  <a:srgbClr val="1E293B"/>
                </a:solidFill>
                <a:latin typeface="Arial"/>
              </a:rPr>
              <a:t>• Precision Fertilizer Dosage:</a:t>
            </a:r>
            <a:r>
              <a:rPr sz="950">
                <a:solidFill>
                  <a:srgbClr val="1E293B"/>
                </a:solidFill>
                <a:latin typeface="Arial"/>
              </a:rPr>
              <a:t> Automated calculation of exact fertilizer requirements (Urea, DAP, MOP in kg/acre) to correct soil deficiencies.</a:t>
            </a:r>
          </a:p>
          <a:p>
            <a:pPr algn="l">
              <a:spcAft>
                <a:spcPts val="500"/>
              </a:spcAft>
            </a:pPr>
            <a:r>
              <a:rPr sz="950" b="1">
                <a:solidFill>
                  <a:srgbClr val="1E293B"/>
                </a:solidFill>
                <a:latin typeface="Arial"/>
              </a:rPr>
              <a:t>• Vernacular Multi-Lingual Voice:</a:t>
            </a:r>
            <a:r>
              <a:rPr sz="950">
                <a:solidFill>
                  <a:srgbClr val="1E293B"/>
                </a:solidFill>
                <a:latin typeface="Arial"/>
              </a:rPr>
              <a:t> Adding voice-based natural language interaction in regional Indian languages (Hindi, Marathi, Telugu, Tamil, Bengali).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F1F"/>
          </a:solidFill>
          <a:ln>
            <a:solidFill>
              <a:srgbClr val="0F2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87552"/>
            <a:ext cx="12191695" cy="36576"/>
          </a:xfrm>
          <a:prstGeom prst="rect">
            <a:avLst/>
          </a:prstGeom>
          <a:solidFill>
            <a:srgbClr val="2D752D"/>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377440" cy="256032"/>
          </a:xfrm>
          <a:prstGeom prst="roundRect">
            <a:avLst/>
          </a:prstGeom>
          <a:solidFill>
            <a:srgbClr val="143D28"/>
          </a:solidFill>
          <a:ln>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E6F3E6"/>
                </a:solidFill>
                <a:latin typeface="Arial"/>
              </a:rPr>
              <a:t>CONCLUSION</a:t>
            </a:r>
          </a:p>
        </p:txBody>
      </p:sp>
      <p:sp>
        <p:nvSpPr>
          <p:cNvPr id="5" name="TextBox 4"/>
          <p:cNvSpPr txBox="1"/>
          <p:nvPr/>
        </p:nvSpPr>
        <p:spPr>
          <a:xfrm>
            <a:off x="685800" y="402336"/>
            <a:ext cx="10515600" cy="548640"/>
          </a:xfrm>
          <a:prstGeom prst="rect">
            <a:avLst/>
          </a:prstGeom>
          <a:noFill/>
        </p:spPr>
        <p:txBody>
          <a:bodyPr wrap="none">
            <a:spAutoFit/>
          </a:bodyPr>
          <a:lstStyle/>
          <a:p>
            <a:r>
              <a:rPr sz="1900" b="1">
                <a:solidFill>
                  <a:srgbClr val="FFFFFF"/>
                </a:solidFill>
                <a:latin typeface="Arial"/>
              </a:rPr>
              <a:t>Project Conclusion &amp; Academic Summary</a:t>
            </a:r>
          </a:p>
        </p:txBody>
      </p:sp>
      <p:sp>
        <p:nvSpPr>
          <p:cNvPr id="6" name="Rectangle 5"/>
          <p:cNvSpPr/>
          <p:nvPr/>
        </p:nvSpPr>
        <p:spPr>
          <a:xfrm>
            <a:off x="0" y="6446520"/>
            <a:ext cx="12191695" cy="4114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7315200" cy="320040"/>
          </a:xfrm>
          <a:prstGeom prst="rect">
            <a:avLst/>
          </a:prstGeom>
          <a:noFill/>
        </p:spPr>
        <p:txBody>
          <a:bodyPr wrap="none">
            <a:spAutoFit/>
          </a:bodyPr>
          <a:lstStyle/>
          <a:p>
            <a:r>
              <a:rPr sz="850">
                <a:solidFill>
                  <a:srgbClr val="64748B"/>
                </a:solidFill>
                <a:latin typeface="Arial"/>
              </a:rPr>
              <a:t>AgriSmart AI — Intelligent Crop Recommendation System  |  University Project Demonstration</a:t>
            </a:r>
          </a:p>
        </p:txBody>
      </p:sp>
      <p:sp>
        <p:nvSpPr>
          <p:cNvPr id="8" name="TextBox 7"/>
          <p:cNvSpPr txBox="1"/>
          <p:nvPr/>
        </p:nvSpPr>
        <p:spPr>
          <a:xfrm>
            <a:off x="9601200" y="6473952"/>
            <a:ext cx="1828800" cy="320040"/>
          </a:xfrm>
          <a:prstGeom prst="rect">
            <a:avLst/>
          </a:prstGeom>
          <a:noFill/>
        </p:spPr>
        <p:txBody>
          <a:bodyPr wrap="none">
            <a:spAutoFit/>
          </a:bodyPr>
          <a:lstStyle/>
          <a:p>
            <a:pPr algn="r"/>
            <a:r>
              <a:rPr sz="850" b="1">
                <a:solidFill>
                  <a:srgbClr val="2D752D"/>
                </a:solidFill>
                <a:latin typeface="Arial"/>
              </a:rPr>
              <a:t>Slide 15 of 16</a:t>
            </a:r>
          </a:p>
        </p:txBody>
      </p:sp>
      <p:sp>
        <p:nvSpPr>
          <p:cNvPr id="9" name="Rounded Rectangle 8"/>
          <p:cNvSpPr/>
          <p:nvPr/>
        </p:nvSpPr>
        <p:spPr>
          <a:xfrm>
            <a:off x="731520" y="1280160"/>
            <a:ext cx="10728655"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spcAft>
                <a:spcPts val="800"/>
              </a:spcAft>
            </a:pPr>
            <a:r>
              <a:rPr sz="1300" b="1">
                <a:solidFill>
                  <a:srgbClr val="0F2F1F"/>
                </a:solidFill>
                <a:latin typeface="Arial"/>
              </a:rPr>
              <a:t>Summary of Project Achievements</a:t>
            </a:r>
          </a:p>
          <a:p>
            <a:pPr algn="l">
              <a:spcAft>
                <a:spcPts val="500"/>
              </a:spcAft>
            </a:pPr>
            <a:r>
              <a:rPr sz="950" b="1">
                <a:solidFill>
                  <a:srgbClr val="1E293B"/>
                </a:solidFill>
                <a:latin typeface="Arial"/>
              </a:rPr>
              <a:t>• High Model Efficacy:</a:t>
            </a:r>
            <a:r>
              <a:rPr sz="950">
                <a:solidFill>
                  <a:srgbClr val="1E293B"/>
                </a:solidFill>
                <a:latin typeface="Arial"/>
              </a:rPr>
              <a:t> Designed, trained, and verified a 6-layer Keras Sequential neural network achieving 97.50% test accuracy and 0.0563 test loss across 22 crop classes.</a:t>
            </a:r>
          </a:p>
          <a:p>
            <a:pPr algn="l">
              <a:spcAft>
                <a:spcPts val="500"/>
              </a:spcAft>
            </a:pPr>
            <a:r>
              <a:rPr sz="950" b="1">
                <a:solidFill>
                  <a:srgbClr val="1E293B"/>
                </a:solidFill>
                <a:latin typeface="Arial"/>
              </a:rPr>
              <a:t>• Zero Feature Bias:</a:t>
            </a:r>
            <a:r>
              <a:rPr sz="950">
                <a:solidFill>
                  <a:srgbClr val="1E293B"/>
                </a:solidFill>
                <a:latin typeface="Arial"/>
              </a:rPr>
              <a:t> Applied StandardScaler normalization to 7 essential agronomic variables, eliminating scale bias across distinct measurement units (kg/ha, °C, %, mm).</a:t>
            </a:r>
          </a:p>
          <a:p>
            <a:pPr algn="l">
              <a:spcAft>
                <a:spcPts val="500"/>
              </a:spcAft>
            </a:pPr>
            <a:r>
              <a:rPr sz="950" b="1">
                <a:solidFill>
                  <a:srgbClr val="1E293B"/>
                </a:solidFill>
                <a:latin typeface="Arial"/>
              </a:rPr>
              <a:t>• Seamless Micro-Service Integration:</a:t>
            </a:r>
            <a:r>
              <a:rPr sz="950">
                <a:solidFill>
                  <a:srgbClr val="1E293B"/>
                </a:solidFill>
                <a:latin typeface="Arial"/>
              </a:rPr>
              <a:t> Developed a production Python Flask REST API featuring strict boundary validation, error handling, and persistent prediction history logging.</a:t>
            </a:r>
          </a:p>
          <a:p>
            <a:pPr algn="l">
              <a:spcAft>
                <a:spcPts val="500"/>
              </a:spcAft>
            </a:pPr>
            <a:r>
              <a:rPr sz="950" b="1">
                <a:solidFill>
                  <a:srgbClr val="1E293B"/>
                </a:solidFill>
                <a:latin typeface="Arial"/>
              </a:rPr>
              <a:t>• High-Performance Web Dashboard:</a:t>
            </a:r>
            <a:r>
              <a:rPr sz="950">
                <a:solidFill>
                  <a:srgbClr val="1E293B"/>
                </a:solidFill>
                <a:latin typeface="Arial"/>
              </a:rPr>
              <a:t> Engineered an interactive single-page application in React 19, Vite, and Tailwind CSS with real-time Chart.js visual analytics.</a:t>
            </a:r>
          </a:p>
          <a:p>
            <a:pPr algn="l">
              <a:spcAft>
                <a:spcPts val="500"/>
              </a:spcAft>
            </a:pPr>
            <a:r>
              <a:rPr sz="950" b="1">
                <a:solidFill>
                  <a:srgbClr val="1E293B"/>
                </a:solidFill>
                <a:latin typeface="Arial"/>
              </a:rPr>
              <a:t>• Empowering Agricultural Decision-Making:</a:t>
            </a:r>
            <a:r>
              <a:rPr sz="950">
                <a:solidFill>
                  <a:srgbClr val="1E293B"/>
                </a:solidFill>
                <a:latin typeface="Arial"/>
              </a:rPr>
              <a:t> Bridged the gap between laboratory soil chemistry and field planting decisions through ranked top-3 probabilistic recommendations and comprehensive crop advisories.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F1F"/>
          </a:solidFill>
          <a:ln>
            <a:solidFill>
              <a:srgbClr val="0F2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097280"/>
            <a:ext cx="9448495" cy="4663440"/>
          </a:xfrm>
          <a:prstGeom prst="roundRect">
            <a:avLst/>
          </a:prstGeom>
          <a:solidFill>
            <a:srgbClr val="143D28"/>
          </a:solidFill>
          <a:ln w="25400">
            <a:solidFill>
              <a:srgbClr val="2D7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1645920"/>
            <a:ext cx="8534095" cy="3474720"/>
          </a:xfrm>
          <a:prstGeom prst="rect">
            <a:avLst/>
          </a:prstGeom>
          <a:noFill/>
        </p:spPr>
        <p:txBody>
          <a:bodyPr wrap="square">
            <a:spAutoFit/>
          </a:bodyPr>
          <a:lstStyle/>
          <a:p>
            <a:pPr algn="ctr"/>
            <a:r>
              <a:rPr sz="3600" b="1">
                <a:solidFill>
                  <a:srgbClr val="FFFFFF"/>
                </a:solidFill>
                <a:latin typeface="Arial"/>
              </a:rPr>
              <a:t>Thank You!</a:t>
            </a:r>
          </a:p>
          <a:p>
            <a:pPr algn="ctr">
              <a:spcBef>
                <a:spcPts val="1200"/>
              </a:spcBef>
            </a:pPr>
            <a:r>
              <a:rPr sz="1800" b="1">
                <a:solidFill>
                  <a:srgbClr val="E6F3E6"/>
                </a:solidFill>
                <a:latin typeface="Arial"/>
              </a:rPr>
              <a:t>Questions &amp; Answers (Q&amp;A)</a:t>
            </a:r>
          </a:p>
          <a:p>
            <a:pPr algn="ctr">
              <a:spcBef>
                <a:spcPts val="1800"/>
              </a:spcBef>
            </a:pPr>
            <a:r>
              <a:rPr sz="1100">
                <a:solidFill>
                  <a:srgbClr val="FFFFFF"/>
                </a:solidFill>
                <a:latin typeface="Arial"/>
              </a:rPr>
              <a:t>AgriSmart AI — Intelligent Crop Recommendation System
Presented by: [STUDENT NAME] (Roll No: [ROLL NUMBER])
Under the Guidance of: [FACULTY NAME]
Department of Computer Science &amp; Engineering • [UNIVERSITY NAME]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